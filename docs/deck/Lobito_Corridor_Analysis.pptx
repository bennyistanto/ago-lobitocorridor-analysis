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243" autoAdjust="0"/>
  </p:normalViewPr>
  <p:slideViewPr>
    <p:cSldViewPr snapToGrid="0" snapToObjects="1">
      <p:cViewPr varScale="1">
        <p:scale>
          <a:sx n="132" d="100"/>
          <a:sy n="132" d="100"/>
        </p:scale>
        <p:origin x="10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27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is about the logic of </a:t>
            </a:r>
            <a:r>
              <a:rPr lang="en-US" sz="8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prioritisation</a:t>
            </a: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how we move from data to clusters, to municipalities, to sites and flows.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onboard another province, we plug it into the same stack: data in → the same CSVs and </a:t>
            </a:r>
            <a:r>
              <a:rPr lang="en-US" sz="8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rasters</a:t>
            </a: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out.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now walk through 5 summary questions – each one corresponds to one or more steps in this pipeline.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Visual: Map showing priority clusters + ADM2 + rail + roads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slide is useful when the team asks 'what if we changed the weights or thresholds?' – you can genuinely say it's </a:t>
            </a:r>
            <a:r>
              <a:rPr lang="en-US" sz="8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parameterised</a:t>
            </a: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Visuals: Table snippet from summary_table_s2_top_municipalities.csv; Scatter plot with quadrants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someone asks about being more pro-poor: we increase the weight of poverty/food insecurity in the Admin2 composite score.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Visuals: Table excerpt from huambo_summary_table_s3_top_sites_60min.csv; Map showing catchments + clusters + network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Catchment analysis flexibility allows for scenario planning and optimization of site selection strategies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Visuals: Table from huambo_summary_table_s4_clusters_synergies_30km.csv; Map with cluster rings by project counts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Synergies analysis helps identify opportunities for coordinated investment and avoid fragmentation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Visuals: Table from huambo_summary_table_s5_od_high_throughput.csv; Map with orange arcs, clusters + network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 model provides insights into movement patterns and helps </a:t>
            </a:r>
            <a:r>
              <a:rPr lang="en-US" sz="8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</a:t>
            </a: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corridor segments with highest flow potential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framework provides a scalable, transparent approach to corridor </a:t>
            </a:r>
            <a:r>
              <a:rPr lang="en-US" sz="8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prioritisation</a:t>
            </a: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investment coordination</a:t>
            </a:r>
            <a:endParaRPr lang="en-US" sz="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545878"/>
            <a:ext cx="829703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spcAft>
                <a:spcPts val="1500"/>
              </a:spcAft>
              <a:buNone/>
            </a:pPr>
            <a:r>
              <a:rPr lang="en-US" sz="27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Lobito Corridor – Prioritisation &amp; Access Analysis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04800" y="2079278"/>
            <a:ext cx="8705088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a province-agnostic, 1-km grid-based pipeline to answer 5 strategic questions: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2444948"/>
            <a:ext cx="59202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How many people and how much cropland benefit from upgrades, especially the poorest?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2740223"/>
            <a:ext cx="63727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coordination: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we clustering investments where they reinforce each other, or scattering them?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" y="3035498"/>
            <a:ext cx="56905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priorities align with rural poverty and food insecurity, not just population and roads?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85800" y="3330773"/>
            <a:ext cx="50250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Synergies: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Where can we stack with Government, World Bank and other partners?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626048"/>
            <a:ext cx="52765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Logistics:</a:t>
            </a: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How do flows along the corridor (Origin-Destination patterns) intersect with these priorities?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542032"/>
            <a:ext cx="59653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050"/>
              </a:spcAft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foundations – what we have for each AOI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04800" y="942082"/>
            <a:ext cx="8534400" cy="1045815"/>
          </a:xfrm>
          <a:prstGeom prst="roundRect">
            <a:avLst>
              <a:gd name="adj" fmla="val 7286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" y="1056382"/>
            <a:ext cx="84719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Coverage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19100" y="1273522"/>
            <a:ext cx="8305800" cy="600075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Provinces / AOIs: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Huambo, Moxico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(others can be added)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Resolution: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1-km grid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harmonised across indicators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800" y="2083147"/>
            <a:ext cx="8534400" cy="2045940"/>
          </a:xfrm>
          <a:prstGeom prst="roundRect">
            <a:avLst>
              <a:gd name="adj" fmla="val 3724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9100" y="2197447"/>
            <a:ext cx="84719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Inputs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9100" y="2414587"/>
            <a:ext cx="8305800" cy="1714499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&amp; Environmental variables: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gridded population, urban and rural classification, land-cover-derived cropland, nighttime light.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travel time to markets/financial services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Poverty &amp; food insecurity: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RAPP-based indices at Admin2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electrification, service indicators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Investments &amp; Origin-Destination: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locations; OD-Lite flows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04800" y="4224338"/>
            <a:ext cx="8534400" cy="605730"/>
          </a:xfrm>
          <a:prstGeom prst="roundRect">
            <a:avLst>
              <a:gd name="adj" fmla="val 12580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19100" y="4338638"/>
            <a:ext cx="84719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per AOI (Step 00–14)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9100" y="4555778"/>
            <a:ext cx="84719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tables, priority surfaces &amp; clusters, catchment KPIs, synergies, OD results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261170"/>
            <a:ext cx="732548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spcAft>
                <a:spcPts val="1050"/>
              </a:spcAft>
              <a:buNone/>
            </a:pPr>
            <a:r>
              <a:rPr lang="en-US" sz="2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inputs to decisions – corridor analysis pipeline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304800" y="1680270"/>
            <a:ext cx="4210050" cy="746671"/>
          </a:xfrm>
          <a:prstGeom prst="roundRect">
            <a:avLst>
              <a:gd name="adj" fmla="val 10205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" y="1794570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01–07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419100" y="1981200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surface &amp; clusters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9100" y="2179290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1-km composite score; extract Top-10% cells and cluster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04800" y="2522190"/>
            <a:ext cx="4210050" cy="746671"/>
          </a:xfrm>
          <a:prstGeom prst="roundRect">
            <a:avLst>
              <a:gd name="adj" fmla="val 10205"/>
            </a:avLst>
          </a:prstGeom>
          <a:solidFill>
            <a:srgbClr val="0D948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19100" y="2636490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06–09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419100" y="2823121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 (Admin2) lens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9100" y="3021211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grid indicators to Admin2; build 0–1 composite score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04800" y="3364111"/>
            <a:ext cx="4210050" cy="746671"/>
          </a:xfrm>
          <a:prstGeom prst="roundRect">
            <a:avLst>
              <a:gd name="adj" fmla="val 10205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9100" y="3478411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10–12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419100" y="3665041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&amp; catchments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9100" y="3863132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candidate sites via 30/60/120-min isochrones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629150" y="1680270"/>
            <a:ext cx="4210050" cy="746671"/>
          </a:xfrm>
          <a:prstGeom prst="roundRect">
            <a:avLst>
              <a:gd name="adj" fmla="val 10205"/>
            </a:avLst>
          </a:prstGeom>
          <a:solidFill>
            <a:srgbClr val="64748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43450" y="1794570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13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4743450" y="1981200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Synergies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43450" y="2179290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Government / WB / Other projects within 5/10/30 km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629150" y="2522190"/>
            <a:ext cx="4210050" cy="746671"/>
          </a:xfrm>
          <a:prstGeom prst="roundRect">
            <a:avLst>
              <a:gd name="adj" fmla="val 10205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743450" y="2636490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14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4743450" y="2823121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Origin-Destination flows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43450" y="3021211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model of municipality-to-municipality flows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249710"/>
            <a:ext cx="749065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spcAft>
                <a:spcPts val="1050"/>
              </a:spcAft>
              <a:buNone/>
            </a:pPr>
            <a:r>
              <a:rPr lang="en-US" sz="2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– High-intensity priority clusters along the corridor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304800" y="1668810"/>
            <a:ext cx="870508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1-km priority surface reveals a small number of high-intensity clusters where: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304800" y="1969740"/>
            <a:ext cx="8534400" cy="62865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marL="114300" indent="-114300" algn="l">
              <a:lnSpc>
                <a:spcPts val="2100"/>
              </a:lnSpc>
              <a:spcAft>
                <a:spcPts val="45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baseline access, low electrification, and high rural poverty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together</a:t>
            </a:r>
            <a:endParaRPr lang="en-US" sz="1350" dirty="0"/>
          </a:p>
          <a:p>
            <a:pPr marL="114300" indent="-114300" algn="l">
              <a:lnSpc>
                <a:spcPts val="2100"/>
              </a:lnSpc>
              <a:spcAft>
                <a:spcPts val="45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enough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and cropland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justify concentrated investment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04800" y="2731740"/>
            <a:ext cx="4200525" cy="1390650"/>
          </a:xfrm>
          <a:prstGeom prst="roundRect">
            <a:avLst>
              <a:gd name="adj" fmla="val 5479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3850" y="2731740"/>
            <a:ext cx="0" cy="1390650"/>
          </a:xfrm>
          <a:prstGeom prst="line">
            <a:avLst/>
          </a:prstGeom>
          <a:noFill/>
          <a:ln w="381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7" name="Text 5"/>
          <p:cNvSpPr/>
          <p:nvPr/>
        </p:nvSpPr>
        <p:spPr>
          <a:xfrm>
            <a:off x="476250" y="2865090"/>
            <a:ext cx="3973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1125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– Huambo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476250" y="3112740"/>
            <a:ext cx="39736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clusters</a:t>
            </a: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total ~53 km²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6250" y="3417540"/>
            <a:ext cx="39736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~1.1% of provincial population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6250" y="3722340"/>
            <a:ext cx="39736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0.3–0.4% of cropland in clusters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38675" y="2731740"/>
            <a:ext cx="4200525" cy="1390650"/>
          </a:xfrm>
          <a:prstGeom prst="roundRect">
            <a:avLst>
              <a:gd name="adj" fmla="val 5479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657725" y="2731740"/>
            <a:ext cx="0" cy="139065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4810125" y="2865090"/>
            <a:ext cx="3973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112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Moxico Example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4810125" y="3112740"/>
            <a:ext cx="39736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mask is empty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10125" y="3417540"/>
            <a:ext cx="397364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municipalities cross selection threshold → 0 clusters, 0% coverage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400324"/>
            <a:ext cx="8534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controls – what drives clusters and what we can adjust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04800" y="1781324"/>
            <a:ext cx="4210050" cy="727472"/>
          </a:xfrm>
          <a:prstGeom prst="roundRect">
            <a:avLst>
              <a:gd name="adj" fmla="val 10475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" y="1895624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&amp; Weights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419100" y="2101304"/>
            <a:ext cx="406107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combination of: travel time, electrification, rural poverty, cropland, and RWI at 1-km resolution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304800" y="2604046"/>
            <a:ext cx="4210050" cy="1367730"/>
          </a:xfrm>
          <a:prstGeom prst="roundRect">
            <a:avLst>
              <a:gd name="adj" fmla="val 5571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9100" y="2718346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Choices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19100" y="2924026"/>
            <a:ext cx="3981450" cy="9334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Cut-off: e.g. Top-10% of scores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cluster size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Smoothing / neighbourhood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29150" y="1781324"/>
            <a:ext cx="4210050" cy="765572"/>
          </a:xfrm>
          <a:prstGeom prst="roundRect">
            <a:avLst>
              <a:gd name="adj" fmla="val 9953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643438" y="1781324"/>
            <a:ext cx="0" cy="765572"/>
          </a:xfrm>
          <a:prstGeom prst="line">
            <a:avLst/>
          </a:prstGeom>
          <a:noFill/>
          <a:ln w="285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1" name="Text 9"/>
          <p:cNvSpPr/>
          <p:nvPr/>
        </p:nvSpPr>
        <p:spPr>
          <a:xfrm>
            <a:off x="4772025" y="1895624"/>
            <a:ext cx="403193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Flexibility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4772025" y="2101304"/>
            <a:ext cx="403193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Equity-heavy:</a:t>
            </a: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higher weight on poverty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4772025" y="2286000"/>
            <a:ext cx="403193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Growth-heavy:</a:t>
            </a: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higher weight on access/cropland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4629150" y="2642146"/>
            <a:ext cx="4210050" cy="1209526"/>
          </a:xfrm>
          <a:prstGeom prst="roundRect">
            <a:avLst>
              <a:gd name="adj" fmla="val 6300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43438" y="2642146"/>
            <a:ext cx="0" cy="1209526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4772025" y="2756446"/>
            <a:ext cx="403193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Implication for Moxico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4772025" y="2962126"/>
            <a:ext cx="403193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clusters means scores never cross cut-off: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4772025" y="3146822"/>
            <a:ext cx="3952875" cy="5905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15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threshold (Top-15%)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15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Re-weight for Moxico context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063228"/>
            <a:ext cx="58195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– Municipal (Admin2) priorities and equity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04800" y="1444228"/>
            <a:ext cx="870508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750"/>
              </a:spcAft>
              <a:buNone/>
            </a:pPr>
            <a:r>
              <a:rPr lang="en-US" sz="97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municipality, we compute a </a:t>
            </a:r>
            <a:r>
              <a:rPr lang="en-US" sz="97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0–1 score</a:t>
            </a:r>
            <a:r>
              <a:rPr lang="en-US" sz="97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balances: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304800" y="1712714"/>
            <a:ext cx="4238625" cy="561826"/>
          </a:xfrm>
          <a:prstGeom prst="roundRect">
            <a:avLst>
              <a:gd name="adj" fmla="val 13563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23850" y="1712714"/>
            <a:ext cx="0" cy="561826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/>
          <p:nvPr/>
        </p:nvSpPr>
        <p:spPr>
          <a:xfrm>
            <a:off x="457200" y="1827014"/>
            <a:ext cx="405136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457200" y="2013645"/>
            <a:ext cx="405136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poverty, food insecurity, long travel times, low electrification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4638675" y="1712714"/>
            <a:ext cx="4200525" cy="561826"/>
          </a:xfrm>
          <a:prstGeom prst="roundRect">
            <a:avLst>
              <a:gd name="adj" fmla="val 13563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2975" y="1827014"/>
            <a:ext cx="405136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4752975" y="2013645"/>
            <a:ext cx="405136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territory in priority mask, potential beneficiaries and cropland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304800" y="2388840"/>
            <a:ext cx="8534400" cy="790426"/>
          </a:xfrm>
          <a:prstGeom prst="roundRect">
            <a:avLst>
              <a:gd name="adj" fmla="val 9640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9100" y="2503140"/>
            <a:ext cx="84719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– Huambo (Top 5 Admin2s)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9100" y="2720280"/>
            <a:ext cx="84719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Ekunha, Huambo, Caála, Bailundo, Katchiungo</a:t>
            </a: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rank highest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9100" y="2918371"/>
            <a:ext cx="847191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combine high poverty, large priority share, and good catchment potential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304800" y="3274516"/>
            <a:ext cx="8534400" cy="1034355"/>
          </a:xfrm>
          <a:prstGeom prst="roundRect">
            <a:avLst>
              <a:gd name="adj" fmla="val 7367"/>
            </a:avLst>
          </a:prstGeom>
          <a:solidFill>
            <a:srgbClr val="FFF7E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19088" y="3274516"/>
            <a:ext cx="0" cy="1034355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7" name="Text 15"/>
          <p:cNvSpPr/>
          <p:nvPr/>
        </p:nvSpPr>
        <p:spPr>
          <a:xfrm>
            <a:off x="447675" y="3388816"/>
            <a:ext cx="844277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Quadrant View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447675" y="3594497"/>
            <a:ext cx="8277225" cy="600075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 in High score &amp; high poverty → good equity alignment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share in Low score &amp; high poverty → potential under-prioritised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209824"/>
            <a:ext cx="8534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controls – composite score and quadrants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04800" y="1590824"/>
            <a:ext cx="4210050" cy="1108472"/>
          </a:xfrm>
          <a:prstGeom prst="roundRect">
            <a:avLst>
              <a:gd name="adj" fmla="val 6874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" y="1705124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Feeding Score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419100" y="1910804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municipality: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19100" y="2095500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poverty_rural, food_insec_scale, traveltime, electricity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9100" y="2266950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priority surface: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419100" y="2451646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share_selected and priority area km²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04800" y="2794546"/>
            <a:ext cx="4210050" cy="1367730"/>
          </a:xfrm>
          <a:prstGeom prst="roundRect">
            <a:avLst>
              <a:gd name="adj" fmla="val 5571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19100" y="2908846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Can Tune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419100" y="3114526"/>
            <a:ext cx="3981450" cy="9334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Weighting need vs opportunity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approach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RWI or other indicators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629150" y="1590824"/>
            <a:ext cx="4210050" cy="727472"/>
          </a:xfrm>
          <a:prstGeom prst="roundRect">
            <a:avLst>
              <a:gd name="adj" fmla="val 1047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643438" y="1590824"/>
            <a:ext cx="0" cy="727472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4772025" y="1705124"/>
            <a:ext cx="403193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Quadrant Definitions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4772025" y="1910804"/>
            <a:ext cx="4031933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X: priority score; Y: rural poverty. Medians define 4 quadrants with municipality counts and rural poor shares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4629150" y="2413546"/>
            <a:ext cx="4210050" cy="1034355"/>
          </a:xfrm>
          <a:prstGeom prst="roundRect">
            <a:avLst>
              <a:gd name="adj" fmla="val 7367"/>
            </a:avLst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743450" y="2527846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Available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4743450" y="2733526"/>
            <a:ext cx="3981450" cy="6000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_priority_admin2_rank.csv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summary_*quadrant_stats*.csv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328886"/>
            <a:ext cx="60041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– Catchment beneficiaries around key sites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04800" y="1709886"/>
            <a:ext cx="870508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900"/>
              </a:spcAft>
              <a:buNone/>
            </a:pPr>
            <a:r>
              <a:rPr lang="en-US" sz="97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</a:t>
            </a:r>
            <a:r>
              <a:rPr lang="en-US" sz="97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site</a:t>
            </a:r>
            <a:r>
              <a:rPr lang="en-US" sz="97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we compute </a:t>
            </a:r>
            <a:r>
              <a:rPr lang="en-US" sz="97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30/60/120-minute travel-time catchments</a:t>
            </a:r>
            <a:r>
              <a:rPr lang="en-US" sz="97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existing + upgraded network.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304800" y="1997422"/>
            <a:ext cx="4219575" cy="1356271"/>
          </a:xfrm>
          <a:prstGeom prst="roundRect">
            <a:avLst>
              <a:gd name="adj" fmla="val 5618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23850" y="1997422"/>
            <a:ext cx="0" cy="1356271"/>
          </a:xfrm>
          <a:prstGeom prst="line">
            <a:avLst/>
          </a:prstGeom>
          <a:noFill/>
          <a:ln w="381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/>
          <p:nvPr/>
        </p:nvSpPr>
        <p:spPr>
          <a:xfrm>
            <a:off x="457200" y="2111722"/>
            <a:ext cx="403193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tells us: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305943"/>
            <a:ext cx="3952875" cy="9334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reaching many people quickly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unlocking remote hinterlands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catchments overlap priority clusters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19625" y="1997422"/>
            <a:ext cx="4219575" cy="1356271"/>
          </a:xfrm>
          <a:prstGeom prst="roundRect">
            <a:avLst>
              <a:gd name="adj" fmla="val 5618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38675" y="1997422"/>
            <a:ext cx="0" cy="1356271"/>
          </a:xfrm>
          <a:prstGeom prst="line">
            <a:avLst/>
          </a:prstGeom>
          <a:noFill/>
          <a:ln w="381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4772025" y="2111722"/>
            <a:ext cx="403193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– Huambo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72025" y="2305943"/>
            <a:ext cx="3952875" cy="8667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sites reach ~40–46% of population within 60 minutes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High-impact sites sit on/near priority clusters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04800" y="3448943"/>
            <a:ext cx="8534400" cy="594271"/>
          </a:xfrm>
          <a:prstGeom prst="roundRect">
            <a:avLst>
              <a:gd name="adj" fmla="val 12822"/>
            </a:avLst>
          </a:prstGeom>
          <a:solidFill>
            <a:srgbClr val="FFF7E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19088" y="3448943"/>
            <a:ext cx="0" cy="594271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447675" y="3563243"/>
            <a:ext cx="8442770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447675" y="3768923"/>
            <a:ext cx="84427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 with high 60-min catchments provide strong immediate impact, while 120-min catchments reveal potential to serve remote areas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916484"/>
            <a:ext cx="8534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900"/>
              </a:spcAft>
              <a:buNone/>
            </a:pPr>
            <a:r>
              <a:rPr lang="en-US" sz="19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controls – catchment thresholds and site definitions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304800" y="1278434"/>
            <a:ext cx="4210050" cy="1034355"/>
          </a:xfrm>
          <a:prstGeom prst="roundRect">
            <a:avLst>
              <a:gd name="adj" fmla="val 736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" y="1392734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419100" y="1598414"/>
            <a:ext cx="3981450" cy="6000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markets, hubs, logistics nodes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time: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accessibility surface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800" y="2408039"/>
            <a:ext cx="4210050" cy="917972"/>
          </a:xfrm>
          <a:prstGeom prst="roundRect">
            <a:avLst>
              <a:gd name="adj" fmla="val 8301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9100" y="2522339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Parameters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19100" y="2728020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thresholds: </a:t>
            </a:r>
            <a:r>
              <a:rPr lang="en-US" sz="82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60 / 120 min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419100" y="2912715"/>
            <a:ext cx="40610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150"/>
              </a:spcAft>
              <a:buNone/>
            </a:pPr>
            <a:r>
              <a:rPr lang="en-US" sz="82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set focus: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419100" y="3078361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WB/Gov investments, proposed hubs, or combined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04800" y="3421261"/>
            <a:ext cx="4210050" cy="1034355"/>
          </a:xfrm>
          <a:prstGeom prst="roundRect">
            <a:avLst>
              <a:gd name="adj" fmla="val 7367"/>
            </a:avLst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9100" y="3535561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Available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419100" y="3741241"/>
            <a:ext cx="3981450" cy="6000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_catchments_kpis.csv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summary_table_s3_top_sites_60min.csv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29150" y="1278434"/>
            <a:ext cx="4210050" cy="1653480"/>
          </a:xfrm>
          <a:prstGeom prst="roundRect">
            <a:avLst>
              <a:gd name="adj" fmla="val 4608"/>
            </a:avLst>
          </a:prstGeom>
          <a:solidFill>
            <a:srgbClr val="FFF7E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643438" y="1278434"/>
            <a:ext cx="0" cy="165348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4772025" y="1392734"/>
            <a:ext cx="403193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Can Change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4772025" y="1598414"/>
            <a:ext cx="3952875" cy="12192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 extra time bands (15, 90 minutes)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sites by type once metadata enriched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baseline vs upgraded scenarios for incremental gains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536502"/>
            <a:ext cx="62762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– Project synergies around clusters and sites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04800" y="1917502"/>
            <a:ext cx="870508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 how many projects from Government, World Bank, and Other partners lie within </a:t>
            </a: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 / 30 km</a:t>
            </a: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each priority cluster.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800" y="2172742"/>
            <a:ext cx="2781300" cy="512266"/>
          </a:xfrm>
          <a:prstGeom prst="roundRect">
            <a:avLst>
              <a:gd name="adj" fmla="val 14875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23850" y="2172742"/>
            <a:ext cx="0" cy="512266"/>
          </a:xfrm>
          <a:prstGeom prst="line">
            <a:avLst/>
          </a:prstGeom>
          <a:noFill/>
          <a:ln w="381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/>
          <p:nvPr/>
        </p:nvSpPr>
        <p:spPr>
          <a:xfrm>
            <a:off x="438150" y="2267992"/>
            <a:ext cx="2603754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High-Opportunity Nodes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8150" y="2443163"/>
            <a:ext cx="260375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Clusters with many nearby projects (good for bundling)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3181350" y="2172742"/>
            <a:ext cx="2781300" cy="512266"/>
          </a:xfrm>
          <a:prstGeom prst="roundRect">
            <a:avLst>
              <a:gd name="adj" fmla="val 14875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00400" y="2172742"/>
            <a:ext cx="0" cy="512266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3314700" y="2267992"/>
            <a:ext cx="2603754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Clusters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4700" y="2443163"/>
            <a:ext cx="260375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need but few investments nearby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6057900" y="2172742"/>
            <a:ext cx="2781300" cy="512266"/>
          </a:xfrm>
          <a:prstGeom prst="roundRect">
            <a:avLst>
              <a:gd name="adj" fmla="val 1487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076950" y="2172742"/>
            <a:ext cx="0" cy="512266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6191250" y="2267992"/>
            <a:ext cx="2603754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Areas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91250" y="2443163"/>
            <a:ext cx="260375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Areas bridging separate "project islands"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304800" y="2780258"/>
            <a:ext cx="8534400" cy="1055340"/>
          </a:xfrm>
          <a:prstGeom prst="roundRect">
            <a:avLst>
              <a:gd name="adj" fmla="val 7220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19100" y="2894558"/>
            <a:ext cx="84719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9100" y="3111698"/>
            <a:ext cx="8305800" cy="6096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Huambo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clusters show strong WB project density within 30 km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Moxico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cluster_synergies table not yet populated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1289745"/>
            <a:ext cx="8534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900"/>
              </a:spcAft>
              <a:buNone/>
            </a:pPr>
            <a:r>
              <a:rPr lang="en-US" sz="19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controls – radii, project sources and density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304800" y="1651695"/>
            <a:ext cx="4210050" cy="1301055"/>
          </a:xfrm>
          <a:prstGeom prst="roundRect">
            <a:avLst>
              <a:gd name="adj" fmla="val 5857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" y="1765995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419100" y="1971675"/>
            <a:ext cx="3981450" cy="8667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_cluster_synergies.csv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PROJECTS_GOV, PROJECTS_WB, PROJECTS_OTH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800" y="3048000"/>
            <a:ext cx="4210050" cy="1034355"/>
          </a:xfrm>
          <a:prstGeom prst="roundRect">
            <a:avLst>
              <a:gd name="adj" fmla="val 7367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9100" y="3162300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Parameters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19100" y="3367980"/>
            <a:ext cx="3981450" cy="6000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Radius: 5 / 10 / 30 km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 projects to display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29150" y="1651695"/>
            <a:ext cx="4210050" cy="1367730"/>
          </a:xfrm>
          <a:prstGeom prst="roundRect">
            <a:avLst>
              <a:gd name="adj" fmla="val 5571"/>
            </a:avLst>
          </a:prstGeom>
          <a:solidFill>
            <a:srgbClr val="FFF7E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643438" y="1651695"/>
            <a:ext cx="0" cy="136773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1" name="Text 9"/>
          <p:cNvSpPr/>
          <p:nvPr/>
        </p:nvSpPr>
        <p:spPr>
          <a:xfrm>
            <a:off x="4772025" y="1765995"/>
            <a:ext cx="403193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Can Refine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4772025" y="1971675"/>
            <a:ext cx="3952875" cy="9334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 with sector tags for sector synergies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logic to priority sites, not just clusters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Harmonise radii for corridor-level comparisons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29150" y="3114675"/>
            <a:ext cx="4210050" cy="561826"/>
          </a:xfrm>
          <a:prstGeom prst="roundRect">
            <a:avLst>
              <a:gd name="adj" fmla="val 13563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643438" y="3114675"/>
            <a:ext cx="0" cy="561826"/>
          </a:xfrm>
          <a:prstGeom prst="line">
            <a:avLst/>
          </a:prstGeom>
          <a:noFill/>
          <a:ln w="2857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4772025" y="3228975"/>
            <a:ext cx="403193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4772025" y="3415605"/>
            <a:ext cx="403193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Synergies strongest where Step 13 has complete inputs</a:t>
            </a:r>
            <a:endParaRPr lang="en-US" sz="8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99" y="1236315"/>
            <a:ext cx="849991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– Origin-Destination (OD) flows and priority along the corridor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04800" y="1617315"/>
            <a:ext cx="4219575" cy="1367730"/>
          </a:xfrm>
          <a:prstGeom prst="roundRect">
            <a:avLst>
              <a:gd name="adj" fmla="val 5571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" y="1731615"/>
            <a:ext cx="407079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OD-Lite Model (Step 14)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419100" y="1937296"/>
            <a:ext cx="407079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</a:t>
            </a:r>
            <a:r>
              <a:rPr lang="en-US" sz="825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model</a:t>
            </a: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flows between municipalities: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19100" y="2121991"/>
            <a:ext cx="3990975" cy="5905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15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population and distance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15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Optionally tilted by RWI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619625" y="1617315"/>
            <a:ext cx="4219575" cy="1367730"/>
          </a:xfrm>
          <a:prstGeom prst="roundRect">
            <a:avLst>
              <a:gd name="adj" fmla="val 5571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33925" y="1731615"/>
            <a:ext cx="407079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This to Identify: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4733925" y="1937296"/>
            <a:ext cx="3990975" cy="9334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OD pairs (highest flows)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Municipalities with highest throughput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throughput nodes intersect priorities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04800" y="3080296"/>
            <a:ext cx="8534400" cy="1055340"/>
          </a:xfrm>
          <a:prstGeom prst="roundRect">
            <a:avLst>
              <a:gd name="adj" fmla="val 7220"/>
            </a:avLst>
          </a:prstGeom>
          <a:solidFill>
            <a:srgbClr val="FFF7E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19088" y="3080296"/>
            <a:ext cx="0" cy="105534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447675" y="3194596"/>
            <a:ext cx="84427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– Huambo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7675" y="3411736"/>
            <a:ext cx="8277225" cy="6096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flows between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Huambo city and key neighbours</a:t>
            </a: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(Caála, Bailundo, etc.)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high-flow pairs traverse </a:t>
            </a:r>
            <a:r>
              <a:rPr lang="en-US" sz="13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municipalities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846832"/>
            <a:ext cx="84991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900"/>
              </a:spcAft>
              <a:buNone/>
            </a:pPr>
            <a:r>
              <a:rPr lang="en-US" sz="2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controls – OD model assumptions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04800" y="1227832"/>
            <a:ext cx="4210050" cy="1567755"/>
          </a:xfrm>
          <a:prstGeom prst="roundRect">
            <a:avLst>
              <a:gd name="adj" fmla="val 4860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9100" y="1342132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419100" y="1547813"/>
            <a:ext cx="3981450" cy="1133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_od_zone_attrs.csv – Admin2 centroids + attributes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_od_gravity.csv – OD matrix with flow and distance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800" y="2890838"/>
            <a:ext cx="4210050" cy="1634430"/>
          </a:xfrm>
          <a:prstGeom prst="roundRect">
            <a:avLst>
              <a:gd name="adj" fmla="val 4662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9100" y="3005138"/>
            <a:ext cx="406107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Modelling Assumptions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19100" y="3210818"/>
            <a:ext cx="3981450" cy="12001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Gravity structure: more people, shorter distance → higher flows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symmetric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extend with corridor-specific frictions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29150" y="1227832"/>
            <a:ext cx="4210050" cy="1367730"/>
          </a:xfrm>
          <a:prstGeom prst="roundRect">
            <a:avLst>
              <a:gd name="adj" fmla="val 5571"/>
            </a:avLst>
          </a:prstGeom>
          <a:solidFill>
            <a:srgbClr val="FFF7E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643438" y="1227832"/>
            <a:ext cx="0" cy="1367730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1" name="Text 9"/>
          <p:cNvSpPr/>
          <p:nvPr/>
        </p:nvSpPr>
        <p:spPr>
          <a:xfrm>
            <a:off x="4772025" y="1342132"/>
            <a:ext cx="403193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Can Change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4772025" y="1547813"/>
            <a:ext cx="3952875" cy="93345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of distance decay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Degree of RWI tilt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spcAft>
                <a:spcPts val="225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with actual traffic/trade data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29150" y="2690813"/>
            <a:ext cx="4210050" cy="561826"/>
          </a:xfrm>
          <a:prstGeom prst="roundRect">
            <a:avLst>
              <a:gd name="adj" fmla="val 13563"/>
            </a:avLst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643438" y="2690813"/>
            <a:ext cx="0" cy="561826"/>
          </a:xfrm>
          <a:prstGeom prst="line">
            <a:avLst/>
          </a:prstGeom>
          <a:noFill/>
          <a:ln w="2857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4772025" y="2805113"/>
            <a:ext cx="403193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with Priorities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4772025" y="2991743"/>
            <a:ext cx="403193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OD pairs where both municipalities are in top priority mask</a:t>
            </a:r>
            <a:endParaRPr lang="en-US" sz="8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" y="852488"/>
            <a:ext cx="57904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 – how the team can use this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04800" y="1309688"/>
            <a:ext cx="8534400" cy="1123950"/>
          </a:xfrm>
          <a:prstGeom prst="roundRect">
            <a:avLst>
              <a:gd name="adj" fmla="val 6780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323850" y="1309688"/>
            <a:ext cx="0" cy="1123950"/>
          </a:xfrm>
          <a:prstGeom prst="line">
            <a:avLst/>
          </a:prstGeom>
          <a:noFill/>
          <a:ln w="381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476250" y="1443038"/>
            <a:ext cx="398335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1125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Term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476250" y="1690688"/>
            <a:ext cx="3905250" cy="6096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Finalise summary tables &amp; maps for all AOIs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on default weighting / thresholds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04800" y="2547938"/>
            <a:ext cx="4210050" cy="1390650"/>
          </a:xfrm>
          <a:prstGeom prst="roundRect">
            <a:avLst>
              <a:gd name="adj" fmla="val 5479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23850" y="2547938"/>
            <a:ext cx="0" cy="139065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476250" y="2681288"/>
            <a:ext cx="398335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1125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Term?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76250" y="2928938"/>
            <a:ext cx="3905250" cy="8763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Co-design equity vs growth scenarios with sector teams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 project and site metadata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29150" y="2560191"/>
            <a:ext cx="4210050" cy="1390650"/>
          </a:xfrm>
          <a:prstGeom prst="roundRect">
            <a:avLst>
              <a:gd name="adj" fmla="val 5479"/>
            </a:avLst>
          </a:prstGeom>
          <a:solidFill>
            <a:srgbClr val="EDE9F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648200" y="2560191"/>
            <a:ext cx="0" cy="1390650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4800600" y="2693541"/>
            <a:ext cx="398335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1125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Term?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4800600" y="2941191"/>
            <a:ext cx="3905250" cy="876300"/>
          </a:xfrm>
          <a:prstGeom prst="rect">
            <a:avLst/>
          </a:prstGeom>
          <a:noFill/>
          <a:ln/>
        </p:spPr>
        <p:txBody>
          <a:bodyPr wrap="square" lIns="85725" tIns="0" rIns="0" bIns="0" rtlCol="0" anchor="t"/>
          <a:lstStyle/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observed data (traffic, production, trade)</a:t>
            </a:r>
            <a:endParaRPr lang="en-US" sz="1350" dirty="0"/>
          </a:p>
          <a:p>
            <a:pPr marL="85725" indent="-85725" algn="l">
              <a:lnSpc>
                <a:spcPts val="21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pipeline as template for other corridors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04800" y="4052888"/>
            <a:ext cx="8534400" cy="466725"/>
          </a:xfrm>
          <a:prstGeom prst="roundRect">
            <a:avLst>
              <a:gd name="adj" fmla="val 16327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5473" y="4186238"/>
            <a:ext cx="84330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1535</Words>
  <Application>Microsoft Office PowerPoint</Application>
  <PresentationFormat>On-screen Show (16:9)</PresentationFormat>
  <Paragraphs>202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Lobito Corridor Spatial Analysis</dc:title>
  <dc:subject>PptxGenJS Presentation</dc:subject>
  <dc:creator>PptxGenJS</dc:creator>
  <cp:lastModifiedBy>Benny Istanto</cp:lastModifiedBy>
  <cp:revision>3</cp:revision>
  <dcterms:created xsi:type="dcterms:W3CDTF">2025-11-21T03:45:43Z</dcterms:created>
  <dcterms:modified xsi:type="dcterms:W3CDTF">2025-11-21T08:54:33Z</dcterms:modified>
</cp:coreProperties>
</file>