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4" r:id="rId3"/>
    <p:sldId id="257" r:id="rId4"/>
    <p:sldId id="258" r:id="rId5"/>
    <p:sldId id="259" r:id="rId6"/>
    <p:sldId id="269" r:id="rId7"/>
    <p:sldId id="260" r:id="rId8"/>
    <p:sldId id="270" r:id="rId9"/>
    <p:sldId id="261" r:id="rId10"/>
    <p:sldId id="271" r:id="rId11"/>
    <p:sldId id="262" r:id="rId12"/>
    <p:sldId id="276" r:id="rId13"/>
    <p:sldId id="263" r:id="rId14"/>
    <p:sldId id="275" r:id="rId15"/>
    <p:sldId id="264" r:id="rId16"/>
    <p:sldId id="266" r:id="rId17"/>
    <p:sldId id="272" r:id="rId18"/>
    <p:sldId id="273" r:id="rId19"/>
    <p:sldId id="267" r:id="rId20"/>
    <p:sldId id="268" r:id="rId21"/>
    <p:sldId id="265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05F112-4A3D-42C6-AF5C-77945AE1179D}" v="47" dt="2026-02-19T13:29:25.7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2" d="100"/>
          <a:sy n="132" d="100"/>
        </p:scale>
        <p:origin x="132" y="7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ny Istanto" userId="ccea0e650e68d75e" providerId="LiveId" clId="{D8DD1CC7-EDF5-40EB-A44D-3059B72F36E1}"/>
    <pc:docChg chg="undo custSel addSld modSld">
      <pc:chgData name="Benny Istanto" userId="ccea0e650e68d75e" providerId="LiveId" clId="{D8DD1CC7-EDF5-40EB-A44D-3059B72F36E1}" dt="2026-02-19T14:21:07.262" v="1775" actId="1076"/>
      <pc:docMkLst>
        <pc:docMk/>
      </pc:docMkLst>
      <pc:sldChg chg="addSp delSp modSp mod">
        <pc:chgData name="Benny Istanto" userId="ccea0e650e68d75e" providerId="LiveId" clId="{D8DD1CC7-EDF5-40EB-A44D-3059B72F36E1}" dt="2026-02-19T13:26:14.119" v="1639" actId="20577"/>
        <pc:sldMkLst>
          <pc:docMk/>
          <pc:sldMk cId="0" sldId="256"/>
        </pc:sldMkLst>
        <pc:spChg chg="mod">
          <ac:chgData name="Benny Istanto" userId="ccea0e650e68d75e" providerId="LiveId" clId="{D8DD1CC7-EDF5-40EB-A44D-3059B72F36E1}" dt="2026-02-18T02:50:10.685" v="1270" actId="20577"/>
          <ac:spMkLst>
            <pc:docMk/>
            <pc:sldMk cId="0" sldId="256"/>
            <ac:spMk id="2" creationId="{00000000-0000-0000-0000-000000000000}"/>
          </ac:spMkLst>
        </pc:spChg>
        <pc:spChg chg="del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3" creationId="{00000000-0000-0000-0000-000000000000}"/>
          </ac:spMkLst>
        </pc:spChg>
        <pc:spChg chg="del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5" creationId="{00000000-0000-0000-0000-000000000000}"/>
          </ac:spMkLst>
        </pc:spChg>
        <pc:spChg chg="del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7" creationId="{00000000-0000-0000-0000-000000000000}"/>
          </ac:spMkLst>
        </pc:spChg>
        <pc:spChg chg="del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13" creationId="{00000000-0000-0000-0000-000000000000}"/>
          </ac:spMkLst>
        </pc:spChg>
        <pc:spChg chg="del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17" creationId="{00000000-0000-0000-0000-000000000000}"/>
          </ac:spMkLst>
        </pc:spChg>
        <pc:spChg chg="del mod">
          <ac:chgData name="Benny Istanto" userId="ccea0e650e68d75e" providerId="LiveId" clId="{D8DD1CC7-EDF5-40EB-A44D-3059B72F36E1}" dt="2026-02-19T13:22:01.731" v="1536" actId="478"/>
          <ac:spMkLst>
            <pc:docMk/>
            <pc:sldMk cId="0" sldId="256"/>
            <ac:spMk id="19" creationId="{00000000-0000-0000-0000-000000000000}"/>
          </ac:spMkLst>
        </pc:spChg>
        <pc:spChg chg="add mod">
          <ac:chgData name="Benny Istanto" userId="ccea0e650e68d75e" providerId="LiveId" clId="{D8DD1CC7-EDF5-40EB-A44D-3059B72F36E1}" dt="2026-02-18T12:33:34.057" v="1459" actId="207"/>
          <ac:spMkLst>
            <pc:docMk/>
            <pc:sldMk cId="0" sldId="256"/>
            <ac:spMk id="22" creationId="{9C7F8F08-E659-FB71-BC5D-75F964FAF258}"/>
          </ac:spMkLst>
        </pc:spChg>
        <pc:spChg chg="add del mod">
          <ac:chgData name="Benny Istanto" userId="ccea0e650e68d75e" providerId="LiveId" clId="{D8DD1CC7-EDF5-40EB-A44D-3059B72F36E1}" dt="2026-02-19T13:25:05.198" v="1586" actId="478"/>
          <ac:spMkLst>
            <pc:docMk/>
            <pc:sldMk cId="0" sldId="256"/>
            <ac:spMk id="23" creationId="{3F109620-FF03-7B89-17CB-2FDECA5B2A1C}"/>
          </ac:spMkLst>
        </pc:spChg>
        <pc:spChg chg="add mod">
          <ac:chgData name="Benny Istanto" userId="ccea0e650e68d75e" providerId="LiveId" clId="{D8DD1CC7-EDF5-40EB-A44D-3059B72F36E1}" dt="2026-02-19T13:26:14.119" v="1639" actId="20577"/>
          <ac:spMkLst>
            <pc:docMk/>
            <pc:sldMk cId="0" sldId="256"/>
            <ac:spMk id="24" creationId="{0C6A7F7C-B7ED-248E-4681-222EED31991B}"/>
          </ac:spMkLst>
        </pc:spChg>
        <pc:picChg chg="add mod">
          <ac:chgData name="Benny Istanto" userId="ccea0e650e68d75e" providerId="LiveId" clId="{D8DD1CC7-EDF5-40EB-A44D-3059B72F36E1}" dt="2026-02-19T13:25:21.397" v="1587" actId="1076"/>
          <ac:picMkLst>
            <pc:docMk/>
            <pc:sldMk cId="0" sldId="256"/>
            <ac:picMk id="21" creationId="{5052B6DE-4D7B-C70B-0626-EFE6D6BAD735}"/>
          </ac:picMkLst>
        </pc:picChg>
      </pc:sldChg>
      <pc:sldChg chg="modSp mod">
        <pc:chgData name="Benny Istanto" userId="ccea0e650e68d75e" providerId="LiveId" clId="{D8DD1CC7-EDF5-40EB-A44D-3059B72F36E1}" dt="2026-02-19T13:31:17.559" v="1732" actId="20577"/>
        <pc:sldMkLst>
          <pc:docMk/>
          <pc:sldMk cId="0" sldId="262"/>
        </pc:sldMkLst>
        <pc:spChg chg="mod">
          <ac:chgData name="Benny Istanto" userId="ccea0e650e68d75e" providerId="LiveId" clId="{D8DD1CC7-EDF5-40EB-A44D-3059B72F36E1}" dt="2026-02-19T13:31:17.559" v="1732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Benny Istanto" userId="ccea0e650e68d75e" providerId="LiveId" clId="{D8DD1CC7-EDF5-40EB-A44D-3059B72F36E1}" dt="2026-02-18T02:49:46.265" v="1262" actId="12"/>
        <pc:sldMkLst>
          <pc:docMk/>
          <pc:sldMk cId="0" sldId="265"/>
        </pc:sldMkLst>
        <pc:spChg chg="mod">
          <ac:chgData name="Benny Istanto" userId="ccea0e650e68d75e" providerId="LiveId" clId="{D8DD1CC7-EDF5-40EB-A44D-3059B72F36E1}" dt="2026-02-18T02:49:46.265" v="1262" actId="12"/>
          <ac:spMkLst>
            <pc:docMk/>
            <pc:sldMk cId="0" sldId="265"/>
            <ac:spMk id="6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2:48:49.410" v="1250" actId="14100"/>
          <ac:spMkLst>
            <pc:docMk/>
            <pc:sldMk cId="0" sldId="265"/>
            <ac:spMk id="7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2:48:46.656" v="1249" actId="14100"/>
          <ac:spMkLst>
            <pc:docMk/>
            <pc:sldMk cId="0" sldId="265"/>
            <ac:spMk id="10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2:48:59.638" v="1253" actId="1410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2:48:54.749" v="1252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2:49:04.991" v="1254" actId="14100"/>
          <ac:spMkLst>
            <pc:docMk/>
            <pc:sldMk cId="0" sldId="265"/>
            <ac:spMk id="13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2:49:29.512" v="1261" actId="948"/>
          <ac:spMkLst>
            <pc:docMk/>
            <pc:sldMk cId="0" sldId="265"/>
            <ac:spMk id="14" creationId="{00000000-0000-0000-0000-000000000000}"/>
          </ac:spMkLst>
        </pc:spChg>
      </pc:sldChg>
      <pc:sldChg chg="modSp mod">
        <pc:chgData name="Benny Istanto" userId="ccea0e650e68d75e" providerId="LiveId" clId="{D8DD1CC7-EDF5-40EB-A44D-3059B72F36E1}" dt="2026-02-19T12:41:42.977" v="1516" actId="20577"/>
        <pc:sldMkLst>
          <pc:docMk/>
          <pc:sldMk cId="0" sldId="266"/>
        </pc:sldMkLst>
        <pc:spChg chg="mod">
          <ac:chgData name="Benny Istanto" userId="ccea0e650e68d75e" providerId="LiveId" clId="{D8DD1CC7-EDF5-40EB-A44D-3059B72F36E1}" dt="2026-02-19T12:41:42.977" v="1516" actId="20577"/>
          <ac:spMkLst>
            <pc:docMk/>
            <pc:sldMk cId="0" sldId="266"/>
            <ac:spMk id="3" creationId="{00000000-0000-0000-0000-000000000000}"/>
          </ac:spMkLst>
        </pc:spChg>
      </pc:sldChg>
      <pc:sldChg chg="modSp mod">
        <pc:chgData name="Benny Istanto" userId="ccea0e650e68d75e" providerId="LiveId" clId="{D8DD1CC7-EDF5-40EB-A44D-3059B72F36E1}" dt="2026-02-18T07:43:52.285" v="1290" actId="1036"/>
        <pc:sldMkLst>
          <pc:docMk/>
          <pc:sldMk cId="0" sldId="267"/>
        </pc:sldMkLst>
        <pc:spChg chg="mod">
          <ac:chgData name="Benny Istanto" userId="ccea0e650e68d75e" providerId="LiveId" clId="{D8DD1CC7-EDF5-40EB-A44D-3059B72F36E1}" dt="2026-02-18T02:43:50.814" v="1208" actId="14100"/>
          <ac:spMkLst>
            <pc:docMk/>
            <pc:sldMk cId="0" sldId="267"/>
            <ac:spMk id="4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7:43:46.778" v="1280" actId="1036"/>
          <ac:spMkLst>
            <pc:docMk/>
            <pc:sldMk cId="0" sldId="267"/>
            <ac:spMk id="6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2:43:54.435" v="1209" actId="14100"/>
          <ac:spMkLst>
            <pc:docMk/>
            <pc:sldMk cId="0" sldId="267"/>
            <ac:spMk id="7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2:44:13.644" v="1211" actId="14100"/>
          <ac:spMkLst>
            <pc:docMk/>
            <pc:sldMk cId="0" sldId="267"/>
            <ac:spMk id="8" creationId="{00000000-0000-0000-0000-000000000000}"/>
          </ac:spMkLst>
        </pc:spChg>
        <pc:spChg chg="mod">
          <ac:chgData name="Benny Istanto" userId="ccea0e650e68d75e" providerId="LiveId" clId="{D8DD1CC7-EDF5-40EB-A44D-3059B72F36E1}" dt="2026-02-18T07:43:52.285" v="1290" actId="1036"/>
          <ac:spMkLst>
            <pc:docMk/>
            <pc:sldMk cId="0" sldId="267"/>
            <ac:spMk id="9" creationId="{00000000-0000-0000-0000-000000000000}"/>
          </ac:spMkLst>
        </pc:spChg>
      </pc:sldChg>
      <pc:sldChg chg="addSp delSp modSp add mod">
        <pc:chgData name="Benny Istanto" userId="ccea0e650e68d75e" providerId="LiveId" clId="{D8DD1CC7-EDF5-40EB-A44D-3059B72F36E1}" dt="2026-02-18T07:48:20.369" v="1298" actId="1076"/>
        <pc:sldMkLst>
          <pc:docMk/>
          <pc:sldMk cId="1275930133" sldId="268"/>
        </pc:sldMkLst>
        <pc:spChg chg="del">
          <ac:chgData name="Benny Istanto" userId="ccea0e650e68d75e" providerId="LiveId" clId="{D8DD1CC7-EDF5-40EB-A44D-3059B72F36E1}" dt="2026-02-18T07:45:56.427" v="1292" actId="478"/>
          <ac:spMkLst>
            <pc:docMk/>
            <pc:sldMk cId="1275930133" sldId="268"/>
            <ac:spMk id="4" creationId="{68EC7B24-AE73-C0AE-570A-8D1F6ED5FDEB}"/>
          </ac:spMkLst>
        </pc:spChg>
        <pc:spChg chg="del">
          <ac:chgData name="Benny Istanto" userId="ccea0e650e68d75e" providerId="LiveId" clId="{D8DD1CC7-EDF5-40EB-A44D-3059B72F36E1}" dt="2026-02-18T07:45:56.427" v="1292" actId="478"/>
          <ac:spMkLst>
            <pc:docMk/>
            <pc:sldMk cId="1275930133" sldId="268"/>
            <ac:spMk id="5" creationId="{DC214326-BC33-433B-F39A-52C0B975DFFF}"/>
          </ac:spMkLst>
        </pc:spChg>
        <pc:spChg chg="del">
          <ac:chgData name="Benny Istanto" userId="ccea0e650e68d75e" providerId="LiveId" clId="{D8DD1CC7-EDF5-40EB-A44D-3059B72F36E1}" dt="2026-02-18T07:45:56.427" v="1292" actId="478"/>
          <ac:spMkLst>
            <pc:docMk/>
            <pc:sldMk cId="1275930133" sldId="268"/>
            <ac:spMk id="6" creationId="{DDDA5204-CA34-F5E5-8FB0-D3D98B62E2BB}"/>
          </ac:spMkLst>
        </pc:spChg>
        <pc:spChg chg="del">
          <ac:chgData name="Benny Istanto" userId="ccea0e650e68d75e" providerId="LiveId" clId="{D8DD1CC7-EDF5-40EB-A44D-3059B72F36E1}" dt="2026-02-18T07:45:56.427" v="1292" actId="478"/>
          <ac:spMkLst>
            <pc:docMk/>
            <pc:sldMk cId="1275930133" sldId="268"/>
            <ac:spMk id="7" creationId="{7342C050-4148-491F-A38A-298DC6714142}"/>
          </ac:spMkLst>
        </pc:spChg>
        <pc:spChg chg="del">
          <ac:chgData name="Benny Istanto" userId="ccea0e650e68d75e" providerId="LiveId" clId="{D8DD1CC7-EDF5-40EB-A44D-3059B72F36E1}" dt="2026-02-18T07:45:56.427" v="1292" actId="478"/>
          <ac:spMkLst>
            <pc:docMk/>
            <pc:sldMk cId="1275930133" sldId="268"/>
            <ac:spMk id="8" creationId="{B3FA52D6-6FDB-2E0A-6A87-FB7D86E1BD05}"/>
          </ac:spMkLst>
        </pc:spChg>
        <pc:spChg chg="del">
          <ac:chgData name="Benny Istanto" userId="ccea0e650e68d75e" providerId="LiveId" clId="{D8DD1CC7-EDF5-40EB-A44D-3059B72F36E1}" dt="2026-02-18T07:45:56.427" v="1292" actId="478"/>
          <ac:spMkLst>
            <pc:docMk/>
            <pc:sldMk cId="1275930133" sldId="268"/>
            <ac:spMk id="9" creationId="{EBD6A959-778A-CE9F-A354-5AB7BE8E63BA}"/>
          </ac:spMkLst>
        </pc:spChg>
        <pc:spChg chg="del">
          <ac:chgData name="Benny Istanto" userId="ccea0e650e68d75e" providerId="LiveId" clId="{D8DD1CC7-EDF5-40EB-A44D-3059B72F36E1}" dt="2026-02-18T07:45:56.427" v="1292" actId="478"/>
          <ac:spMkLst>
            <pc:docMk/>
            <pc:sldMk cId="1275930133" sldId="268"/>
            <ac:spMk id="10" creationId="{50E2617D-BA1A-C60B-EB90-37D4C9183D76}"/>
          </ac:spMkLst>
        </pc:spChg>
        <pc:spChg chg="del">
          <ac:chgData name="Benny Istanto" userId="ccea0e650e68d75e" providerId="LiveId" clId="{D8DD1CC7-EDF5-40EB-A44D-3059B72F36E1}" dt="2026-02-18T07:45:56.427" v="1292" actId="478"/>
          <ac:spMkLst>
            <pc:docMk/>
            <pc:sldMk cId="1275930133" sldId="268"/>
            <ac:spMk id="11" creationId="{9524052E-6DC8-EC23-B6DB-1578A4EEABA2}"/>
          </ac:spMkLst>
        </pc:spChg>
        <pc:picChg chg="add mod">
          <ac:chgData name="Benny Istanto" userId="ccea0e650e68d75e" providerId="LiveId" clId="{D8DD1CC7-EDF5-40EB-A44D-3059B72F36E1}" dt="2026-02-18T07:48:20.369" v="1298" actId="1076"/>
          <ac:picMkLst>
            <pc:docMk/>
            <pc:sldMk cId="1275930133" sldId="268"/>
            <ac:picMk id="13" creationId="{B26CB7F2-B1AF-369C-53CF-530170321B42}"/>
          </ac:picMkLst>
        </pc:picChg>
      </pc:sldChg>
      <pc:sldChg chg="addSp delSp modSp add mod">
        <pc:chgData name="Benny Istanto" userId="ccea0e650e68d75e" providerId="LiveId" clId="{D8DD1CC7-EDF5-40EB-A44D-3059B72F36E1}" dt="2026-02-18T07:56:51.475" v="1380" actId="1582"/>
        <pc:sldMkLst>
          <pc:docMk/>
          <pc:sldMk cId="3593141302" sldId="269"/>
        </pc:sldMkLst>
        <pc:spChg chg="mod">
          <ac:chgData name="Benny Istanto" userId="ccea0e650e68d75e" providerId="LiveId" clId="{D8DD1CC7-EDF5-40EB-A44D-3059B72F36E1}" dt="2026-02-18T07:50:52.718" v="1335" actId="1035"/>
          <ac:spMkLst>
            <pc:docMk/>
            <pc:sldMk cId="3593141302" sldId="269"/>
            <ac:spMk id="2" creationId="{59879CD0-8410-054B-4AF0-2F41E520F8D3}"/>
          </ac:spMkLst>
        </pc:spChg>
        <pc:spChg chg="mod">
          <ac:chgData name="Benny Istanto" userId="ccea0e650e68d75e" providerId="LiveId" clId="{D8DD1CC7-EDF5-40EB-A44D-3059B72F36E1}" dt="2026-02-18T07:50:56.944" v="1360" actId="1036"/>
          <ac:spMkLst>
            <pc:docMk/>
            <pc:sldMk cId="3593141302" sldId="269"/>
            <ac:spMk id="3" creationId="{64A5360E-1831-16C9-EE39-1DF116F12FD5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4" creationId="{5407C5A2-9D35-8062-98C2-CC6007280787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6" creationId="{1B2D5F26-75F4-75A4-D5BD-8D4CB4BC5C10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7" creationId="{75244E43-3E0E-C94B-D03D-6E80684F37F4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8" creationId="{3BAC33F8-6345-3A1D-B401-2211BB73E529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9" creationId="{D827593C-E6E4-FCDD-B9A1-B9B48A49A7F2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10" creationId="{4FECFF8F-216F-E320-7F22-A143AE4BB094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11" creationId="{6396E0A4-E511-936A-6DDB-9659516834FB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12" creationId="{E13DCB93-9E15-CB20-C42D-2EF70388C0F3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13" creationId="{5CF5CC58-4FF5-2DCB-4926-E5E65532BF5A}"/>
          </ac:spMkLst>
        </pc:spChg>
        <pc:spChg chg="del">
          <ac:chgData name="Benny Istanto" userId="ccea0e650e68d75e" providerId="LiveId" clId="{D8DD1CC7-EDF5-40EB-A44D-3059B72F36E1}" dt="2026-02-18T07:50:43.896" v="1300" actId="478"/>
          <ac:spMkLst>
            <pc:docMk/>
            <pc:sldMk cId="3593141302" sldId="269"/>
            <ac:spMk id="14" creationId="{200AF491-FD96-441A-07D6-AA0CEE47611F}"/>
          </ac:spMkLst>
        </pc:spChg>
        <pc:picChg chg="add mod">
          <ac:chgData name="Benny Istanto" userId="ccea0e650e68d75e" providerId="LiveId" clId="{D8DD1CC7-EDF5-40EB-A44D-3059B72F36E1}" dt="2026-02-18T07:51:20.919" v="1364" actId="1076"/>
          <ac:picMkLst>
            <pc:docMk/>
            <pc:sldMk cId="3593141302" sldId="269"/>
            <ac:picMk id="16" creationId="{9EE58CF4-24F3-A3F9-2D44-AEF205F2A683}"/>
          </ac:picMkLst>
        </pc:picChg>
        <pc:picChg chg="add mod">
          <ac:chgData name="Benny Istanto" userId="ccea0e650e68d75e" providerId="LiveId" clId="{D8DD1CC7-EDF5-40EB-A44D-3059B72F36E1}" dt="2026-02-18T07:56:51.475" v="1380" actId="1582"/>
          <ac:picMkLst>
            <pc:docMk/>
            <pc:sldMk cId="3593141302" sldId="269"/>
            <ac:picMk id="18" creationId="{42318CE8-F4A4-6DF1-F17E-10EDF69A4785}"/>
          </ac:picMkLst>
        </pc:picChg>
      </pc:sldChg>
      <pc:sldChg chg="addSp delSp modSp add mod">
        <pc:chgData name="Benny Istanto" userId="ccea0e650e68d75e" providerId="LiveId" clId="{D8DD1CC7-EDF5-40EB-A44D-3059B72F36E1}" dt="2026-02-19T07:04:32.514" v="1478" actId="14100"/>
        <pc:sldMkLst>
          <pc:docMk/>
          <pc:sldMk cId="4003600235" sldId="270"/>
        </pc:sldMkLst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5" creationId="{B90B9378-FD32-35D2-0FB7-171D4F70BF12}"/>
          </ac:spMkLst>
        </pc:spChg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6" creationId="{DB4DCBAB-7440-FA22-EF77-5075672555FE}"/>
          </ac:spMkLst>
        </pc:spChg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11" creationId="{D8B10096-2BD0-040A-25C8-7B16480A0F3C}"/>
          </ac:spMkLst>
        </pc:spChg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12" creationId="{555F797C-F52A-B982-F01D-B00BC0B48AC6}"/>
          </ac:spMkLst>
        </pc:spChg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13" creationId="{2833FDA5-4583-31BA-2F10-60EEB24044A1}"/>
          </ac:spMkLst>
        </pc:spChg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14" creationId="{B0E060A0-3AE9-729F-2261-DD28A7060A66}"/>
          </ac:spMkLst>
        </pc:spChg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16" creationId="{F950BF13-1609-9523-90E9-5A3400CDD7E2}"/>
          </ac:spMkLst>
        </pc:spChg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17" creationId="{31789356-8515-9889-C96F-03A56225DB7A}"/>
          </ac:spMkLst>
        </pc:spChg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18" creationId="{E7A28005-7F81-8F77-1504-FB993C8FC078}"/>
          </ac:spMkLst>
        </pc:spChg>
        <pc:spChg chg="del">
          <ac:chgData name="Benny Istanto" userId="ccea0e650e68d75e" providerId="LiveId" clId="{D8DD1CC7-EDF5-40EB-A44D-3059B72F36E1}" dt="2026-02-19T07:01:42.567" v="1461" actId="478"/>
          <ac:spMkLst>
            <pc:docMk/>
            <pc:sldMk cId="4003600235" sldId="270"/>
            <ac:spMk id="22" creationId="{E6B3B9BB-8F0A-9B44-9CEC-D592BF7A143B}"/>
          </ac:spMkLst>
        </pc:spChg>
        <pc:picChg chg="add del mod">
          <ac:chgData name="Benny Istanto" userId="ccea0e650e68d75e" providerId="LiveId" clId="{D8DD1CC7-EDF5-40EB-A44D-3059B72F36E1}" dt="2026-02-19T07:03:55.431" v="1471" actId="478"/>
          <ac:picMkLst>
            <pc:docMk/>
            <pc:sldMk cId="4003600235" sldId="270"/>
            <ac:picMk id="7" creationId="{A581B278-4383-2B06-0030-AF1705D11387}"/>
          </ac:picMkLst>
        </pc:picChg>
        <pc:picChg chg="add mod">
          <ac:chgData name="Benny Istanto" userId="ccea0e650e68d75e" providerId="LiveId" clId="{D8DD1CC7-EDF5-40EB-A44D-3059B72F36E1}" dt="2026-02-19T07:04:32.514" v="1478" actId="14100"/>
          <ac:picMkLst>
            <pc:docMk/>
            <pc:sldMk cId="4003600235" sldId="270"/>
            <ac:picMk id="8" creationId="{5E2C4BF9-FD36-016B-37CB-235168B1227F}"/>
          </ac:picMkLst>
        </pc:picChg>
        <pc:picChg chg="add mod">
          <ac:chgData name="Benny Istanto" userId="ccea0e650e68d75e" providerId="LiveId" clId="{D8DD1CC7-EDF5-40EB-A44D-3059B72F36E1}" dt="2026-02-19T07:04:28.962" v="1477" actId="14100"/>
          <ac:picMkLst>
            <pc:docMk/>
            <pc:sldMk cId="4003600235" sldId="270"/>
            <ac:picMk id="1026" creationId="{EAC885FE-707E-A763-7E81-3C0DCA3988BC}"/>
          </ac:picMkLst>
        </pc:picChg>
      </pc:sldChg>
      <pc:sldChg chg="addSp delSp modSp add mod">
        <pc:chgData name="Benny Istanto" userId="ccea0e650e68d75e" providerId="LiveId" clId="{D8DD1CC7-EDF5-40EB-A44D-3059B72F36E1}" dt="2026-02-19T11:12:02.573" v="1511" actId="14826"/>
        <pc:sldMkLst>
          <pc:docMk/>
          <pc:sldMk cId="3616404958" sldId="271"/>
        </pc:sldMkLst>
        <pc:spChg chg="mod">
          <ac:chgData name="Benny Istanto" userId="ccea0e650e68d75e" providerId="LiveId" clId="{D8DD1CC7-EDF5-40EB-A44D-3059B72F36E1}" dt="2026-02-19T11:11:12.744" v="1510" actId="1036"/>
          <ac:spMkLst>
            <pc:docMk/>
            <pc:sldMk cId="3616404958" sldId="271"/>
            <ac:spMk id="2" creationId="{B292FDC1-BEF7-874C-B359-14F118FC7B89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4" creationId="{720987F4-A6AD-9A79-2986-8E7E4241556B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6" creationId="{17F9C618-BE12-7ACC-2889-95013752EBAE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8" creationId="{B24E72D7-909A-339C-9A1E-12C7C0159179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9" creationId="{0072CF72-7493-42F9-4575-F1C519B76277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10" creationId="{10D208B1-72E0-DA57-DE92-CCA053509F5A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12" creationId="{3FC3522D-D404-7565-91CB-EABC2B0CA795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13" creationId="{4769D634-9FAF-6A81-AB92-66097257BF81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14" creationId="{6FB96F60-B66D-A72B-0E7A-8EF58AA9AB6B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15" creationId="{3F0DE743-22ED-F7D2-C733-9C72BB9791CC}"/>
          </ac:spMkLst>
        </pc:spChg>
        <pc:spChg chg="del">
          <ac:chgData name="Benny Istanto" userId="ccea0e650e68d75e" providerId="LiveId" clId="{D8DD1CC7-EDF5-40EB-A44D-3059B72F36E1}" dt="2026-02-19T11:10:45.240" v="1480" actId="478"/>
          <ac:spMkLst>
            <pc:docMk/>
            <pc:sldMk cId="3616404958" sldId="271"/>
            <ac:spMk id="17" creationId="{8AA0F666-9C00-3FA9-1638-00279D47FB52}"/>
          </ac:spMkLst>
        </pc:spChg>
        <pc:picChg chg="add mod">
          <ac:chgData name="Benny Istanto" userId="ccea0e650e68d75e" providerId="LiveId" clId="{D8DD1CC7-EDF5-40EB-A44D-3059B72F36E1}" dt="2026-02-19T11:12:02.573" v="1511" actId="14826"/>
          <ac:picMkLst>
            <pc:docMk/>
            <pc:sldMk cId="3616404958" sldId="271"/>
            <ac:picMk id="5" creationId="{948ECD02-0D9C-AD64-C15C-83AFE3A6D73E}"/>
          </ac:picMkLst>
        </pc:picChg>
      </pc:sldChg>
      <pc:sldChg chg="addSp delSp modSp add mod">
        <pc:chgData name="Benny Istanto" userId="ccea0e650e68d75e" providerId="LiveId" clId="{D8DD1CC7-EDF5-40EB-A44D-3059B72F36E1}" dt="2026-02-19T13:19:32.797" v="1528" actId="14100"/>
        <pc:sldMkLst>
          <pc:docMk/>
          <pc:sldMk cId="4059065759" sldId="272"/>
        </pc:sldMkLst>
        <pc:spChg chg="del">
          <ac:chgData name="Benny Istanto" userId="ccea0e650e68d75e" providerId="LiveId" clId="{D8DD1CC7-EDF5-40EB-A44D-3059B72F36E1}" dt="2026-02-19T13:17:13.994" v="1520" actId="478"/>
          <ac:spMkLst>
            <pc:docMk/>
            <pc:sldMk cId="4059065759" sldId="272"/>
            <ac:spMk id="3" creationId="{9B186F01-2C82-8D4B-5C9B-31FB01F630E8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4" creationId="{7C7755B7-161F-F9B1-0F8B-3A8A62B550F6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5" creationId="{BF58341F-62A6-BE08-5665-DB1861B63303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6" creationId="{56D958C7-8EAC-3CF2-0B51-CFD05C983878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8" creationId="{C00009BB-7030-A9D8-3E57-7DA27D87A977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13" creationId="{61311710-8EBC-BBFB-CEB8-F4E686A1AB61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14" creationId="{519AC244-6455-E468-0FE6-AF448E6D91A3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15" creationId="{0FCE2321-A23E-438B-5C96-CDF5CDA6A7A1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16" creationId="{5F8F27BD-A871-42CE-CE87-241AC05C24B4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17" creationId="{A70633E4-176E-B25E-3634-A0C6387C5012}"/>
          </ac:spMkLst>
        </pc:spChg>
        <pc:spChg chg="del">
          <ac:chgData name="Benny Istanto" userId="ccea0e650e68d75e" providerId="LiveId" clId="{D8DD1CC7-EDF5-40EB-A44D-3059B72F36E1}" dt="2026-02-19T13:17:09.301" v="1518" actId="478"/>
          <ac:spMkLst>
            <pc:docMk/>
            <pc:sldMk cId="4059065759" sldId="272"/>
            <ac:spMk id="19" creationId="{D137B774-7A2F-3B1F-9264-2D39BA3A8B43}"/>
          </ac:spMkLst>
        </pc:spChg>
        <pc:spChg chg="del">
          <ac:chgData name="Benny Istanto" userId="ccea0e650e68d75e" providerId="LiveId" clId="{D8DD1CC7-EDF5-40EB-A44D-3059B72F36E1}" dt="2026-02-19T13:17:12.016" v="1519" actId="478"/>
          <ac:spMkLst>
            <pc:docMk/>
            <pc:sldMk cId="4059065759" sldId="272"/>
            <ac:spMk id="20" creationId="{F9CF0033-073F-1680-0AA5-C0B08F72A7E4}"/>
          </ac:spMkLst>
        </pc:spChg>
        <pc:picChg chg="add mod">
          <ac:chgData name="Benny Istanto" userId="ccea0e650e68d75e" providerId="LiveId" clId="{D8DD1CC7-EDF5-40EB-A44D-3059B72F36E1}" dt="2026-02-19T13:19:00.353" v="1524" actId="1076"/>
          <ac:picMkLst>
            <pc:docMk/>
            <pc:sldMk cId="4059065759" sldId="272"/>
            <ac:picMk id="2050" creationId="{5ACB5E0B-B6C9-38DD-FCCC-A5B2DE235CDF}"/>
          </ac:picMkLst>
        </pc:picChg>
        <pc:picChg chg="add mod">
          <ac:chgData name="Benny Istanto" userId="ccea0e650e68d75e" providerId="LiveId" clId="{D8DD1CC7-EDF5-40EB-A44D-3059B72F36E1}" dt="2026-02-19T13:19:32.797" v="1528" actId="14100"/>
          <ac:picMkLst>
            <pc:docMk/>
            <pc:sldMk cId="4059065759" sldId="272"/>
            <ac:picMk id="2052" creationId="{48911285-2D01-5021-D439-D596613069AF}"/>
          </ac:picMkLst>
        </pc:picChg>
      </pc:sldChg>
      <pc:sldChg chg="addSp delSp modSp add">
        <pc:chgData name="Benny Istanto" userId="ccea0e650e68d75e" providerId="LiveId" clId="{D8DD1CC7-EDF5-40EB-A44D-3059B72F36E1}" dt="2026-02-19T13:21:00.622" v="1534" actId="1076"/>
        <pc:sldMkLst>
          <pc:docMk/>
          <pc:sldMk cId="3662085510" sldId="273"/>
        </pc:sldMkLst>
        <pc:picChg chg="del">
          <ac:chgData name="Benny Istanto" userId="ccea0e650e68d75e" providerId="LiveId" clId="{D8DD1CC7-EDF5-40EB-A44D-3059B72F36E1}" dt="2026-02-19T13:20:03.460" v="1531" actId="478"/>
          <ac:picMkLst>
            <pc:docMk/>
            <pc:sldMk cId="3662085510" sldId="273"/>
            <ac:picMk id="2050" creationId="{93498A0D-2559-1E1A-BC0E-6BFD8E381212}"/>
          </ac:picMkLst>
        </pc:picChg>
        <pc:picChg chg="del">
          <ac:chgData name="Benny Istanto" userId="ccea0e650e68d75e" providerId="LiveId" clId="{D8DD1CC7-EDF5-40EB-A44D-3059B72F36E1}" dt="2026-02-19T13:20:02.602" v="1530" actId="478"/>
          <ac:picMkLst>
            <pc:docMk/>
            <pc:sldMk cId="3662085510" sldId="273"/>
            <ac:picMk id="2052" creationId="{04AE9975-D010-F1AD-97BB-D2F1CC4C6DE2}"/>
          </ac:picMkLst>
        </pc:picChg>
        <pc:picChg chg="add mod">
          <ac:chgData name="Benny Istanto" userId="ccea0e650e68d75e" providerId="LiveId" clId="{D8DD1CC7-EDF5-40EB-A44D-3059B72F36E1}" dt="2026-02-19T13:21:00.622" v="1534" actId="1076"/>
          <ac:picMkLst>
            <pc:docMk/>
            <pc:sldMk cId="3662085510" sldId="273"/>
            <ac:picMk id="3074" creationId="{B3898D8D-0498-5D5E-71F5-665D790A4284}"/>
          </ac:picMkLst>
        </pc:picChg>
      </pc:sldChg>
      <pc:sldChg chg="delSp add mod">
        <pc:chgData name="Benny Istanto" userId="ccea0e650e68d75e" providerId="LiveId" clId="{D8DD1CC7-EDF5-40EB-A44D-3059B72F36E1}" dt="2026-02-19T13:26:35.282" v="1641" actId="478"/>
        <pc:sldMkLst>
          <pc:docMk/>
          <pc:sldMk cId="1295617992" sldId="274"/>
        </pc:sldMkLst>
        <pc:spChg chg="del">
          <ac:chgData name="Benny Istanto" userId="ccea0e650e68d75e" providerId="LiveId" clId="{D8DD1CC7-EDF5-40EB-A44D-3059B72F36E1}" dt="2026-02-19T13:26:35.282" v="1641" actId="478"/>
          <ac:spMkLst>
            <pc:docMk/>
            <pc:sldMk cId="1295617992" sldId="274"/>
            <ac:spMk id="22" creationId="{47287012-0EAA-62CA-CE21-8C3102E198FD}"/>
          </ac:spMkLst>
        </pc:spChg>
        <pc:picChg chg="del">
          <ac:chgData name="Benny Istanto" userId="ccea0e650e68d75e" providerId="LiveId" clId="{D8DD1CC7-EDF5-40EB-A44D-3059B72F36E1}" dt="2026-02-19T13:26:31.991" v="1640" actId="478"/>
          <ac:picMkLst>
            <pc:docMk/>
            <pc:sldMk cId="1295617992" sldId="274"/>
            <ac:picMk id="21" creationId="{449ECDAB-6C03-6431-6565-6EA261A478FE}"/>
          </ac:picMkLst>
        </pc:picChg>
      </pc:sldChg>
      <pc:sldChg chg="addSp delSp modSp add mod">
        <pc:chgData name="Benny Istanto" userId="ccea0e650e68d75e" providerId="LiveId" clId="{D8DD1CC7-EDF5-40EB-A44D-3059B72F36E1}" dt="2026-02-19T13:29:25.745" v="1695" actId="1076"/>
        <pc:sldMkLst>
          <pc:docMk/>
          <pc:sldMk cId="2335840512" sldId="275"/>
        </pc:sldMkLst>
        <pc:spChg chg="mod">
          <ac:chgData name="Benny Istanto" userId="ccea0e650e68d75e" providerId="LiveId" clId="{D8DD1CC7-EDF5-40EB-A44D-3059B72F36E1}" dt="2026-02-19T13:28:05.979" v="1682" actId="1035"/>
          <ac:spMkLst>
            <pc:docMk/>
            <pc:sldMk cId="2335840512" sldId="275"/>
            <ac:spMk id="2" creationId="{B5D28E9D-F041-7A66-467F-192646FB70A2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3" creationId="{E999358A-522F-BC93-229A-539F18E0DDDD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4" creationId="{4014F2FB-7522-4FCD-117F-57D3D83F1A66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6" creationId="{78EAE7CD-B11C-D633-0530-9F931DF336BB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7" creationId="{3A396E8D-2CF4-711A-BE2C-BB79EC663028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8" creationId="{929F6D61-F5F9-66C3-E8BE-F2D111AC018A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10" creationId="{7224E9F0-F838-FFCF-7B76-80EFEE132452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11" creationId="{E4528842-EF0F-83AF-18B9-EAC6CAE25014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12" creationId="{81AE466F-D1E4-DEFC-F394-20BAF786B35A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13" creationId="{90C90977-56EB-1D2C-33F6-FA2197C85426}"/>
          </ac:spMkLst>
        </pc:spChg>
        <pc:spChg chg="del">
          <ac:chgData name="Benny Istanto" userId="ccea0e650e68d75e" providerId="LiveId" clId="{D8DD1CC7-EDF5-40EB-A44D-3059B72F36E1}" dt="2026-02-19T13:27:26.034" v="1643" actId="478"/>
          <ac:spMkLst>
            <pc:docMk/>
            <pc:sldMk cId="2335840512" sldId="275"/>
            <ac:spMk id="17" creationId="{034C16B5-FBAE-5E4D-C8DC-F3E1AA8D6A50}"/>
          </ac:spMkLst>
        </pc:spChg>
        <pc:picChg chg="add mod">
          <ac:chgData name="Benny Istanto" userId="ccea0e650e68d75e" providerId="LiveId" clId="{D8DD1CC7-EDF5-40EB-A44D-3059B72F36E1}" dt="2026-02-19T13:29:09.609" v="1692" actId="1076"/>
          <ac:picMkLst>
            <pc:docMk/>
            <pc:sldMk cId="2335840512" sldId="275"/>
            <ac:picMk id="4098" creationId="{FD941328-1A25-F7B9-F09C-AA4982635C85}"/>
          </ac:picMkLst>
        </pc:picChg>
        <pc:picChg chg="add mod">
          <ac:chgData name="Benny Istanto" userId="ccea0e650e68d75e" providerId="LiveId" clId="{D8DD1CC7-EDF5-40EB-A44D-3059B72F36E1}" dt="2026-02-19T13:29:25.745" v="1695" actId="1076"/>
          <ac:picMkLst>
            <pc:docMk/>
            <pc:sldMk cId="2335840512" sldId="275"/>
            <ac:picMk id="4100" creationId="{5E874DC3-ECC2-124C-1469-6ECB52505591}"/>
          </ac:picMkLst>
        </pc:picChg>
      </pc:sldChg>
      <pc:sldChg chg="addSp delSp modSp add mod">
        <pc:chgData name="Benny Istanto" userId="ccea0e650e68d75e" providerId="LiveId" clId="{D8DD1CC7-EDF5-40EB-A44D-3059B72F36E1}" dt="2026-02-19T14:21:07.262" v="1775" actId="1076"/>
        <pc:sldMkLst>
          <pc:docMk/>
          <pc:sldMk cId="4087942297" sldId="276"/>
        </pc:sldMkLst>
        <pc:spChg chg="mod">
          <ac:chgData name="Benny Istanto" userId="ccea0e650e68d75e" providerId="LiveId" clId="{D8DD1CC7-EDF5-40EB-A44D-3059B72F36E1}" dt="2026-02-19T13:42:01.699" v="1762" actId="1036"/>
          <ac:spMkLst>
            <pc:docMk/>
            <pc:sldMk cId="4087942297" sldId="276"/>
            <ac:spMk id="2" creationId="{8C8DC63E-F340-9281-AFD0-70A954C41492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5" creationId="{506BF8B0-8A1A-A655-6129-805F10BDA609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6" creationId="{0F84B01A-35E3-F9EE-4EC5-9BF3F843A9BF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9" creationId="{126AA041-3A38-C0E9-0485-723279A84D15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10" creationId="{62281EED-66A2-FB37-121A-DCC191890215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11" creationId="{0AD10858-9296-8966-94A4-45CBEEB26D1C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14" creationId="{4807C1A2-FF90-50A8-9CD1-16B854460C5A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15" creationId="{20804563-872E-6A9A-C3F9-ED8E49EF656D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16" creationId="{D130DA3F-D05D-6276-9998-719FC3E762A9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18" creationId="{F23CCB0F-FBEE-F83F-CDD4-8AB4FCD78BDE}"/>
          </ac:spMkLst>
        </pc:spChg>
        <pc:spChg chg="del">
          <ac:chgData name="Benny Istanto" userId="ccea0e650e68d75e" providerId="LiveId" clId="{D8DD1CC7-EDF5-40EB-A44D-3059B72F36E1}" dt="2026-02-19T13:41:56.786" v="1734" actId="478"/>
          <ac:spMkLst>
            <pc:docMk/>
            <pc:sldMk cId="4087942297" sldId="276"/>
            <ac:spMk id="22" creationId="{D39B7532-A475-E1F0-CED7-DE082EC49E0F}"/>
          </ac:spMkLst>
        </pc:spChg>
        <pc:picChg chg="add mod">
          <ac:chgData name="Benny Istanto" userId="ccea0e650e68d75e" providerId="LiveId" clId="{D8DD1CC7-EDF5-40EB-A44D-3059B72F36E1}" dt="2026-02-19T14:21:03.719" v="1774" actId="1076"/>
          <ac:picMkLst>
            <pc:docMk/>
            <pc:sldMk cId="4087942297" sldId="276"/>
            <ac:picMk id="25" creationId="{A20C6957-8668-32BC-AC3E-F9CCEAAD5659}"/>
          </ac:picMkLst>
        </pc:picChg>
        <pc:picChg chg="add mod">
          <ac:chgData name="Benny Istanto" userId="ccea0e650e68d75e" providerId="LiveId" clId="{D8DD1CC7-EDF5-40EB-A44D-3059B72F36E1}" dt="2026-02-19T14:21:07.262" v="1775" actId="1076"/>
          <ac:picMkLst>
            <pc:docMk/>
            <pc:sldMk cId="4087942297" sldId="276"/>
            <ac:picMk id="27" creationId="{CF1D2600-A491-B435-277A-B8502F22DB8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780B190-D0CE-EC71-B8D9-1F9BE12E15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D105D7-69FD-D46D-8647-8FA39CA3009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CC27E0-7A3C-4A38-9BFC-B1CFBDB1D63C}" type="datetimeFigureOut">
              <a:rPr lang="en-ID" smtClean="0"/>
              <a:t>18/02/2026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519BD5-13A1-0FD6-6D22-5700CE89CF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B63F4E-47E5-2BE4-476E-652EB5E4CF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50EAA-2C84-4D32-B5BE-D4E5CC0594F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8096930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0962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07C4F6-DCDC-50C7-A290-9996F7120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B0441D-C140-7570-3570-C967B4099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24A15-9C19-BD68-BE84-78B61C6F39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4757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700FF-7C35-C083-F544-8C42B3FD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D7846A-35BF-0438-7364-58C44EAC62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4B1C6F-B8C7-43A8-251A-EF364DE81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0821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1F6F1-C117-9859-7E3D-BCE7C58D1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3F174-F131-5CA2-D67A-45F11C149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9784EC-0EBD-A932-A149-574474A05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7460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AC926-5A4F-AD10-DA02-3094360A3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E376B-E007-F578-0854-B8A873D64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E2474D-19D5-7254-DCD0-70249703D0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71557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7C0A9-2C91-4627-C675-43C2E7E59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DDA4B0-995B-F14F-8870-49E9B854C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1D735-F32D-D5D4-22E6-346CE395F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9194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DCEAB-6F29-B758-9F83-5A9A30B5F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B4DF7-E916-2A7F-745C-94FDB0732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F54F35-9D9A-27BC-D00B-6A944791D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7156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bistanto@worldbank.org" TargetMode="External"/><Relationship Id="rId4" Type="http://schemas.openxmlformats.org/officeDocument/2006/relationships/hyperlink" Target="https://worldbank.github.io/AGO_corridor_analysis/docs/chapters/summary.html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723900"/>
            <a:ext cx="853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Lobito Corridor Spatial Analysis: </a:t>
            </a:r>
          </a:p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Configurable Decision Framework</a:t>
            </a:r>
            <a:endParaRPr lang="en-US" sz="27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052B6DE-4D7B-C70B-0626-EFE6D6BAD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683" y="696821"/>
            <a:ext cx="712879" cy="712879"/>
          </a:xfrm>
          <a:prstGeom prst="rect">
            <a:avLst/>
          </a:prstGeom>
        </p:spPr>
      </p:pic>
      <p:sp>
        <p:nvSpPr>
          <p:cNvPr id="24" name="Text 0">
            <a:extLst>
              <a:ext uri="{FF2B5EF4-FFF2-40B4-BE49-F238E27FC236}">
                <a16:creationId xmlns:a16="http://schemas.microsoft.com/office/drawing/2014/main" id="{0C6A7F7C-B7ED-248E-4681-222EED31991B}"/>
              </a:ext>
            </a:extLst>
          </p:cNvPr>
          <p:cNvSpPr/>
          <p:nvPr/>
        </p:nvSpPr>
        <p:spPr>
          <a:xfrm>
            <a:off x="304800" y="1645920"/>
            <a:ext cx="85344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00"/>
              </a:lnSpc>
              <a:spcAft>
                <a:spcPts val="600"/>
              </a:spcAft>
            </a:pP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https://worldbank.github.io/AGO_corridor_analysis/docs/chapters/summary.html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ID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Benny Istanto –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bistanto@worldbank.org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D89AD-50C4-8E06-9BF6-44EDB9B4B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B4CE4C7-E234-CBA3-7C3F-2DD545BD6AAF}"/>
              </a:ext>
            </a:extLst>
          </p:cNvPr>
          <p:cNvSpPr/>
          <p:nvPr/>
        </p:nvSpPr>
        <p:spPr>
          <a:xfrm>
            <a:off x="304800" y="723900"/>
            <a:ext cx="853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Lobito Corridor Spatial Analysis: </a:t>
            </a:r>
          </a:p>
          <a:p>
            <a:pPr marL="0" indent="0" algn="l">
              <a:lnSpc>
                <a:spcPts val="2700"/>
              </a:lnSpc>
              <a:spcAft>
                <a:spcPts val="600"/>
              </a:spcAft>
              <a:buNone/>
            </a:pPr>
            <a:r>
              <a:rPr lang="en-US" sz="270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Configurable Decision Framework</a:t>
            </a:r>
            <a:endParaRPr lang="en-US" sz="27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0534B6F-F4AB-4D70-A840-6C344C69BD97}"/>
              </a:ext>
            </a:extLst>
          </p:cNvPr>
          <p:cNvSpPr/>
          <p:nvPr/>
        </p:nvSpPr>
        <p:spPr>
          <a:xfrm>
            <a:off x="304800" y="1600200"/>
            <a:ext cx="8534400" cy="982861"/>
          </a:xfrm>
          <a:prstGeom prst="roundRect">
            <a:avLst>
              <a:gd name="adj" fmla="val 7753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D9EA55B-4C0F-9B5E-7C35-001DBB4771C3}"/>
              </a:ext>
            </a:extLst>
          </p:cNvPr>
          <p:cNvSpPr/>
          <p:nvPr/>
        </p:nvSpPr>
        <p:spPr>
          <a:xfrm>
            <a:off x="323850" y="1600200"/>
            <a:ext cx="0" cy="982861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59E594-983B-C369-CFED-7172F34DDDEC}"/>
              </a:ext>
            </a:extLst>
          </p:cNvPr>
          <p:cNvSpPr/>
          <p:nvPr/>
        </p:nvSpPr>
        <p:spPr>
          <a:xfrm>
            <a:off x="495300" y="1752600"/>
            <a:ext cx="8355330" cy="182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spcAft>
                <a:spcPts val="750"/>
              </a:spcAft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Message</a:t>
            </a:r>
            <a:endParaRPr lang="en-US" sz="1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97027B1-D383-483D-76DD-FFB7578E5F29}"/>
              </a:ext>
            </a:extLst>
          </p:cNvPr>
          <p:cNvSpPr/>
          <p:nvPr/>
        </p:nvSpPr>
        <p:spPr>
          <a:xfrm>
            <a:off x="495300" y="2030611"/>
            <a:ext cx="825942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</a:t>
            </a: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modular, scenario-based tool</a:t>
            </a: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not a fixed recommendation. Results can be tailored to align with Angola's strategic priorities</a:t>
            </a:r>
            <a:r>
              <a:rPr lang="en-US" sz="11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125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940BC2C-4645-2B38-0CE6-81725131038C}"/>
              </a:ext>
            </a:extLst>
          </p:cNvPr>
          <p:cNvSpPr/>
          <p:nvPr/>
        </p:nvSpPr>
        <p:spPr>
          <a:xfrm>
            <a:off x="304800" y="2735461"/>
            <a:ext cx="2755850" cy="1912590"/>
          </a:xfrm>
          <a:prstGeom prst="roundRect">
            <a:avLst>
              <a:gd name="adj" fmla="val 398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65B51BC-AA38-6804-F2D5-BA71FBB3E45E}"/>
              </a:ext>
            </a:extLst>
          </p:cNvPr>
          <p:cNvSpPr/>
          <p:nvPr/>
        </p:nvSpPr>
        <p:spPr>
          <a:xfrm>
            <a:off x="323850" y="2735461"/>
            <a:ext cx="0" cy="191259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0080113-B8E5-9FDE-E380-1D9CF0A3DEC6}"/>
              </a:ext>
            </a:extLst>
          </p:cNvPr>
          <p:cNvSpPr/>
          <p:nvPr/>
        </p:nvSpPr>
        <p:spPr>
          <a:xfrm>
            <a:off x="476250" y="2868811"/>
            <a:ext cx="2500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Equity-Heavy Scenario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CD8B529-3F77-52EF-5515-B040F2667883}"/>
              </a:ext>
            </a:extLst>
          </p:cNvPr>
          <p:cNvSpPr/>
          <p:nvPr/>
        </p:nvSpPr>
        <p:spPr>
          <a:xfrm>
            <a:off x="476250" y="3105001"/>
            <a:ext cx="2451050" cy="1143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weight on poverty &amp; food insecurity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rural poor, even if access gains are smaller</a:t>
            </a:r>
            <a:endParaRPr lang="en-US" sz="13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17DD88E-C930-51E8-0FFA-E7E55BB0BEB0}"/>
              </a:ext>
            </a:extLst>
          </p:cNvPr>
          <p:cNvSpPr/>
          <p:nvPr/>
        </p:nvSpPr>
        <p:spPr>
          <a:xfrm>
            <a:off x="3194000" y="2735461"/>
            <a:ext cx="2755850" cy="1912590"/>
          </a:xfrm>
          <a:prstGeom prst="roundRect">
            <a:avLst>
              <a:gd name="adj" fmla="val 3984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746E3471-4773-210A-A91A-018630EC0091}"/>
              </a:ext>
            </a:extLst>
          </p:cNvPr>
          <p:cNvSpPr/>
          <p:nvPr/>
        </p:nvSpPr>
        <p:spPr>
          <a:xfrm>
            <a:off x="3213050" y="2735461"/>
            <a:ext cx="0" cy="191259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9CD7707-E98A-DAB1-7889-CD2C2240DA92}"/>
              </a:ext>
            </a:extLst>
          </p:cNvPr>
          <p:cNvSpPr/>
          <p:nvPr/>
        </p:nvSpPr>
        <p:spPr>
          <a:xfrm>
            <a:off x="3365450" y="2868811"/>
            <a:ext cx="2500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(Current)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C7360EB-91B3-4A85-7927-DFA30BE7A2FD}"/>
              </a:ext>
            </a:extLst>
          </p:cNvPr>
          <p:cNvSpPr/>
          <p:nvPr/>
        </p:nvSpPr>
        <p:spPr>
          <a:xfrm>
            <a:off x="3365450" y="3105001"/>
            <a:ext cx="2451050" cy="14097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Balances need (poverty) and opportunity (access, population)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threshold with rural focus</a:t>
            </a:r>
            <a:endParaRPr lang="en-US" sz="13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475D206-74B3-8FB8-75EE-901FE73B14A5}"/>
              </a:ext>
            </a:extLst>
          </p:cNvPr>
          <p:cNvSpPr/>
          <p:nvPr/>
        </p:nvSpPr>
        <p:spPr>
          <a:xfrm>
            <a:off x="6083201" y="2735461"/>
            <a:ext cx="2755850" cy="1912590"/>
          </a:xfrm>
          <a:prstGeom prst="roundRect">
            <a:avLst>
              <a:gd name="adj" fmla="val 3984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421D8F0E-5C8F-23AE-73EC-2C36EBB017B1}"/>
              </a:ext>
            </a:extLst>
          </p:cNvPr>
          <p:cNvSpPr/>
          <p:nvPr/>
        </p:nvSpPr>
        <p:spPr>
          <a:xfrm>
            <a:off x="6102251" y="2735461"/>
            <a:ext cx="0" cy="191259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CF68A11-6C21-0D4E-14B2-848C27FD7946}"/>
              </a:ext>
            </a:extLst>
          </p:cNvPr>
          <p:cNvSpPr/>
          <p:nvPr/>
        </p:nvSpPr>
        <p:spPr>
          <a:xfrm>
            <a:off x="6254651" y="2868811"/>
            <a:ext cx="250007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Growth-Heavy Scenario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157066F-5E62-8CE6-E556-46BDFE13CD40}"/>
              </a:ext>
            </a:extLst>
          </p:cNvPr>
          <p:cNvSpPr/>
          <p:nvPr/>
        </p:nvSpPr>
        <p:spPr>
          <a:xfrm>
            <a:off x="6254651" y="3105001"/>
            <a:ext cx="2451050" cy="11430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weight on travel time &amp; cropland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productive hinterlands &amp; economic flows</a:t>
            </a:r>
            <a:endParaRPr lang="en-US" sz="13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4AC74AC5-0482-3E0A-B41A-E134AB9ED558}"/>
              </a:ext>
            </a:extLst>
          </p:cNvPr>
          <p:cNvSpPr/>
          <p:nvPr/>
        </p:nvSpPr>
        <p:spPr>
          <a:xfrm>
            <a:off x="304800" y="4724251"/>
            <a:ext cx="5949849" cy="152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presentation shows results from the Balanced scenario. Different scenarios will produce different priority areas and recommendations.</a:t>
            </a:r>
            <a:endParaRPr lang="en-US" sz="750" dirty="0"/>
          </a:p>
        </p:txBody>
      </p:sp>
    </p:spTree>
    <p:extLst>
      <p:ext uri="{BB962C8B-B14F-4D97-AF65-F5344CB8AC3E}">
        <p14:creationId xmlns:p14="http://schemas.microsoft.com/office/powerpoint/2010/main" val="129561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534222"/>
            <a:ext cx="622763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Scenario: Balanced Configuration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991422"/>
            <a:ext cx="870508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numbers in this presentation are based on the following parameter settings. These can be adjusted to test different policy priorities.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304800" y="1311402"/>
            <a:ext cx="4210050" cy="1455390"/>
          </a:xfrm>
          <a:prstGeom prst="roundRect">
            <a:avLst>
              <a:gd name="adj" fmla="val 523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8150" y="1444752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Selection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38150" y="1680942"/>
            <a:ext cx="3943350" cy="9525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of cells by composite score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focus: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Require rural classification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cropland: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5% threshold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04800" y="2881092"/>
            <a:ext cx="4210050" cy="1798290"/>
          </a:xfrm>
          <a:prstGeom prst="roundRect">
            <a:avLst>
              <a:gd name="adj" fmla="val 4237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8150" y="3014442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150" y="3250632"/>
            <a:ext cx="3943350" cy="1295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Travel time to markets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Population density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Drought exposure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Nighttime lights (excluded for rural focus)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629150" y="1311402"/>
            <a:ext cx="4210050" cy="1798290"/>
          </a:xfrm>
          <a:prstGeom prst="roundRect">
            <a:avLst>
              <a:gd name="adj" fmla="val 4237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62500" y="1444752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Overlay Weights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62500" y="1680942"/>
            <a:ext cx="3943350" cy="1295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Poverty (W_POV):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insecurity (W_FOOD):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time (W_MTT):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 index (W_RWI): </a:t>
            </a: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29150" y="3223992"/>
            <a:ext cx="4210050" cy="928086"/>
          </a:xfrm>
          <a:prstGeom prst="roundRect">
            <a:avLst>
              <a:gd name="adj" fmla="val 948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62500" y="3357342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Change?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62500" y="3574482"/>
            <a:ext cx="402221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Thresholds, weights, component mix, urban/rural split, and clustering parameters – all adjustable based on strategic priorities.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config.py lines 538-595. Parameters can be re-run overnight to test alternative scenarios.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743099"/>
            <a:ext cx="748093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spcAft>
                <a:spcPts val="1350"/>
              </a:spcAft>
              <a:buNone/>
            </a:pPr>
            <a:r>
              <a:rPr lang="en-US" sz="25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Strategic Questions This Framework Answers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304800" y="1238399"/>
            <a:ext cx="8534400" cy="594271"/>
          </a:xfrm>
          <a:prstGeom prst="roundRect">
            <a:avLst>
              <a:gd name="adj" fmla="val 128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57250" y="1352699"/>
            <a:ext cx="419284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the strongest priority clusters emerge?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57250" y="1558379"/>
            <a:ext cx="419284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 multiple constraints stack with enough population to justify investment?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04800" y="1937445"/>
            <a:ext cx="8534400" cy="594271"/>
          </a:xfrm>
          <a:prstGeom prst="roundRect">
            <a:avLst>
              <a:gd name="adj" fmla="val 128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57250" y="2051745"/>
            <a:ext cx="4523172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focusing where needs and opportunities coincide?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57250" y="2257425"/>
            <a:ext cx="452317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municipalities balance high poverty with high potential for access improvements?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04800" y="2636490"/>
            <a:ext cx="8534400" cy="594271"/>
          </a:xfrm>
          <a:prstGeom prst="roundRect">
            <a:avLst>
              <a:gd name="adj" fmla="val 128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57250" y="2750790"/>
            <a:ext cx="4056525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many people benefit within 30/60/120 minutes?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57250" y="2956471"/>
            <a:ext cx="405652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sites reach the most beneficiaries quickly vs unlock remote hinterlands?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4800" y="3335536"/>
            <a:ext cx="8534400" cy="594271"/>
          </a:xfrm>
          <a:prstGeom prst="roundRect">
            <a:avLst>
              <a:gd name="adj" fmla="val 128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3449836"/>
            <a:ext cx="395086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stacking with other investments or creating islands?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57250" y="3655516"/>
            <a:ext cx="395086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can we coordinate with Government, World Bank and other partners?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4800" y="4034582"/>
            <a:ext cx="8534400" cy="594271"/>
          </a:xfrm>
          <a:prstGeom prst="roundRect">
            <a:avLst>
              <a:gd name="adj" fmla="val 128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57250" y="4148882"/>
            <a:ext cx="3884834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does movement along the corridor reinforce priorities?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57250" y="4354562"/>
            <a:ext cx="388483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15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segments carry the most interaction between priority areas?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research questions came from the team, via email 19 Sep 2025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920204"/>
            <a:ext cx="54795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Where do priority clusters emerge?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800" y="1282154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current configuration: Top 10% threshold, rural focus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1556445"/>
            <a:ext cx="8534400" cy="1866900"/>
          </a:xfrm>
          <a:prstGeom prst="roundRect">
            <a:avLst>
              <a:gd name="adj" fmla="val 408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670745"/>
            <a:ext cx="8305800" cy="16383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Benguela: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clusters, 432 km², 3,134 people (0.1% of province), 217 km² cropland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Huambo: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 clusters, 53 km², 31,776 people (1.1% of province), 35 km² cropland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Bie: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cluster, 27 km², 18,307 people (0.9% of province), 11 km² cropland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Moxico: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 clusters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Moxico Leste: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 clusters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800" y="3537645"/>
            <a:ext cx="4210050" cy="914251"/>
          </a:xfrm>
          <a:prstGeom prst="roundRect">
            <a:avLst>
              <a:gd name="adj" fmla="val 833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323850" y="3537645"/>
            <a:ext cx="0" cy="914251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57200" y="3651945"/>
            <a:ext cx="402221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1" y="3857625"/>
            <a:ext cx="395020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Huambo shows highest concentration: 1.1% of population in just 53 km² of priority clusters – indicates strong potential for targeted investment.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29150" y="3537645"/>
            <a:ext cx="4210050" cy="914251"/>
          </a:xfrm>
          <a:prstGeom prst="roundRect">
            <a:avLst>
              <a:gd name="adj" fmla="val 8335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48200" y="3537645"/>
            <a:ext cx="0" cy="91425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781550" y="3651945"/>
            <a:ext cx="402221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 err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Moxico</a:t>
            </a: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200" b="1" dirty="0" err="1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Moxico</a:t>
            </a: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Leste Challenge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81550" y="3857625"/>
            <a:ext cx="4022217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clusters means no areas cross current threshold. Options: (1) Lower threshold to 15%, (2) Adjust weights for 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Moxico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Moxico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Leste context, or (3) Accept lower priority.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Table S1 from summary.md. Changing TOP_PCT_CELLS from 10% to 15% would add Moxico clusters.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6E1CA2-BEBC-8E57-9D7A-F0C20AD38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9879CD0-8410-054B-4AF0-2F41E520F8D3}"/>
              </a:ext>
            </a:extLst>
          </p:cNvPr>
          <p:cNvSpPr/>
          <p:nvPr/>
        </p:nvSpPr>
        <p:spPr>
          <a:xfrm>
            <a:off x="304800" y="252549"/>
            <a:ext cx="547954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60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Where do priority clusters emerge?</a:t>
            </a:r>
            <a:endParaRPr lang="en-US" sz="2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4A5360E-1831-16C9-EE39-1DF116F12FD5}"/>
              </a:ext>
            </a:extLst>
          </p:cNvPr>
          <p:cNvSpPr/>
          <p:nvPr/>
        </p:nvSpPr>
        <p:spPr>
          <a:xfrm>
            <a:off x="304800" y="556440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current configuration: Top 10% threshold, rural focus</a:t>
            </a:r>
            <a:endParaRPr lang="en-US" sz="9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EE58CF4-24F3-A3F9-2D44-AEF205F2A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768924"/>
            <a:ext cx="5959901" cy="42145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2318CE8-F4A4-6DF1-F17E-10EDF69A4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397" y="1787066"/>
            <a:ext cx="2496117" cy="2066296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3593141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538163"/>
            <a:ext cx="8063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Are we focusing where needs and opportunities coincide?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881063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current equity weights: W_POV=15%, W_FOOD=10%, W_MTT=10%, W_RWI=15%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04800" y="1155353"/>
            <a:ext cx="2633472" cy="2826990"/>
          </a:xfrm>
          <a:prstGeom prst="roundRect">
            <a:avLst>
              <a:gd name="adj" fmla="val 269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19100" y="1269653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Municipalities - Huambo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19100" y="1572898"/>
            <a:ext cx="4061079" cy="1615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ts val="1155"/>
              </a:lnSpc>
              <a:spcAft>
                <a:spcPts val="1200"/>
              </a:spcAft>
              <a:buAutoNum type="arabicPeriod"/>
            </a:pPr>
            <a:r>
              <a:rPr lang="en-US" sz="12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Ekunha</a:t>
            </a: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Score: 0.71</a:t>
            </a:r>
          </a:p>
          <a:p>
            <a:pPr marL="228600" indent="-228600">
              <a:lnSpc>
                <a:spcPts val="1155"/>
              </a:lnSpc>
              <a:spcAft>
                <a:spcPts val="1200"/>
              </a:spcAft>
              <a:buFontTx/>
              <a:buAutoNum type="arabicPeriod"/>
            </a:pP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Huambo, </a:t>
            </a: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Score: 0.70</a:t>
            </a:r>
          </a:p>
          <a:p>
            <a:pPr marL="228600" indent="-228600">
              <a:lnSpc>
                <a:spcPts val="1155"/>
              </a:lnSpc>
              <a:spcAft>
                <a:spcPts val="1200"/>
              </a:spcAft>
              <a:buFontTx/>
              <a:buAutoNum type="arabicPeriod"/>
            </a:pPr>
            <a:r>
              <a:rPr lang="en-US" sz="12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Caála</a:t>
            </a: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Score: 0.67</a:t>
            </a:r>
          </a:p>
          <a:p>
            <a:pPr marL="228600" indent="-228600">
              <a:lnSpc>
                <a:spcPts val="1155"/>
              </a:lnSpc>
              <a:spcAft>
                <a:spcPts val="1200"/>
              </a:spcAft>
              <a:buFontTx/>
              <a:buAutoNum type="arabicPeriod"/>
            </a:pPr>
            <a:r>
              <a:rPr lang="en-US" sz="12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Bailundo</a:t>
            </a: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Score: 0.62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28600" indent="-228600">
              <a:lnSpc>
                <a:spcPts val="1155"/>
              </a:lnSpc>
              <a:spcAft>
                <a:spcPts val="1200"/>
              </a:spcAft>
              <a:buAutoNum type="arabicPeriod"/>
            </a:pPr>
            <a:r>
              <a:rPr lang="en-US" sz="1200" dirty="0" err="1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Katchiungo</a:t>
            </a:r>
            <a:r>
              <a:rPr lang="en-US" sz="1200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</a:t>
            </a:r>
            <a:r>
              <a:rPr lang="en-US" sz="1200" b="1" dirty="0">
                <a:solidFill>
                  <a:srgbClr val="1E293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Score: 0.61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52572" y="1155353"/>
            <a:ext cx="5786628" cy="2826990"/>
          </a:xfrm>
          <a:prstGeom prst="roundRect">
            <a:avLst>
              <a:gd name="adj" fmla="val 269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170682" y="1269653"/>
            <a:ext cx="40610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 Quadrant Analysis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70682" y="1505843"/>
            <a:ext cx="5554218" cy="23622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Score &amp; High Poverty, 3 municipalities (27.3%), 18% of rural poor: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Good alignment – invest here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Score &amp; Low Poverty, 3 municipalities (27.3%), 18% of rural poor: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Growth opportunities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Score &amp; High Poverty, 3 municipalities (27.3%), 14% of rural poor: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At-risk of under-prioritization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Score &amp; Low Poverty, 2 municipalities (18.2%), 50% of rural poor: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Lower urgency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04800" y="4047875"/>
            <a:ext cx="4210050" cy="641896"/>
          </a:xfrm>
          <a:prstGeom prst="roundRect">
            <a:avLst>
              <a:gd name="adj" fmla="val 11871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50" y="4047875"/>
            <a:ext cx="0" cy="641896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38150" y="4143125"/>
            <a:ext cx="406107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150" y="432782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municipalities combine high rural poverty (65-70%), large priority mask share (12-18%), and good catchment (40-46% within 60 min).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9150" y="4047875"/>
            <a:ext cx="4210050" cy="641896"/>
          </a:xfrm>
          <a:prstGeom prst="roundRect">
            <a:avLst>
              <a:gd name="adj" fmla="val 11871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48200" y="4047875"/>
            <a:ext cx="0" cy="64189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0" name="Text 18"/>
          <p:cNvSpPr/>
          <p:nvPr/>
        </p:nvSpPr>
        <p:spPr>
          <a:xfrm>
            <a:off x="4762500" y="4143125"/>
            <a:ext cx="406107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75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Sensitivity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62500" y="4327821"/>
            <a:ext cx="406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Rankings shift with: (1) Higher poverty weight → rural-poor rise, (2) Higher access weight → better-connected rise, (3) Include urban → different set.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Table S2 from summary.md. 36% in "High score &amp; high poverty" quadrant indicates good equity targeting under current scenario.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D1C3F2-8DDE-B2E3-E5C1-992CAC900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87C91A-EBF9-889D-4BF9-6DB041281C02}"/>
              </a:ext>
            </a:extLst>
          </p:cNvPr>
          <p:cNvSpPr/>
          <p:nvPr/>
        </p:nvSpPr>
        <p:spPr>
          <a:xfrm>
            <a:off x="304800" y="538163"/>
            <a:ext cx="80638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Are we focusing where needs and opportunities coincide?</a:t>
            </a:r>
            <a:endParaRPr lang="en-US" sz="2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3F4F711-F245-4346-3552-505A9D837BF2}"/>
              </a:ext>
            </a:extLst>
          </p:cNvPr>
          <p:cNvSpPr/>
          <p:nvPr/>
        </p:nvSpPr>
        <p:spPr>
          <a:xfrm>
            <a:off x="304800" y="881063"/>
            <a:ext cx="8705088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900"/>
              </a:spcAft>
              <a:buNone/>
            </a:pPr>
            <a:r>
              <a:rPr lang="en-US" sz="9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current equity weights: W_POV=15%, W_FOOD=10%, W_MTT=10%, W_RWI=15%</a:t>
            </a:r>
            <a:endParaRPr lang="en-US" sz="900" dirty="0"/>
          </a:p>
        </p:txBody>
      </p:sp>
      <p:pic>
        <p:nvPicPr>
          <p:cNvPr id="1026" name="Picture 2" descr="S2-Benguela">
            <a:extLst>
              <a:ext uri="{FF2B5EF4-FFF2-40B4-BE49-F238E27FC236}">
                <a16:creationId xmlns:a16="http://schemas.microsoft.com/office/drawing/2014/main" id="{EAC885FE-707E-A763-7E81-3C0DCA3988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" y="1178213"/>
            <a:ext cx="5060325" cy="3796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2C4BF9-FD36-016B-37CB-235168B12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125" y="1178212"/>
            <a:ext cx="3474076" cy="3250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00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937320"/>
            <a:ext cx="72477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How many people benefit within 30/60/120 minutes?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299270"/>
            <a:ext cx="4913376" cy="2293590"/>
          </a:xfrm>
          <a:prstGeom prst="roundRect">
            <a:avLst>
              <a:gd name="adj" fmla="val 3322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413570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Sites by 30/60/120-min Population (Huambo)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33999" y="1299270"/>
            <a:ext cx="3505199" cy="1059882"/>
          </a:xfrm>
          <a:prstGeom prst="roundRect">
            <a:avLst>
              <a:gd name="adj" fmla="val 1047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334000" y="1299270"/>
            <a:ext cx="0" cy="1059882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5553456" y="1390037"/>
            <a:ext cx="2461641" cy="172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 (30-60 min)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53456" y="1619250"/>
            <a:ext cx="3134868" cy="636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Caála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sites (Sites 1 &amp; 2) reach 45-46% of province population within 60 minutes – strongest immediate impact potential for market access and service delivery.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34000" y="2449920"/>
            <a:ext cx="3505200" cy="1142328"/>
          </a:xfrm>
          <a:prstGeom prst="roundRect">
            <a:avLst>
              <a:gd name="adj" fmla="val 10475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334000" y="2449920"/>
            <a:ext cx="0" cy="1142327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5553456" y="2555511"/>
            <a:ext cx="2461641" cy="152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Coverage (120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53456" y="2765060"/>
            <a:ext cx="3134867" cy="556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top 5 sites reach 64-69% of province population within 120 minutes – demonstrates solid network coverage for longer-distance agricultural supply chains and periodic services.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800" y="3707160"/>
            <a:ext cx="8534400" cy="917656"/>
          </a:xfrm>
          <a:prstGeom prst="roundRect">
            <a:avLst>
              <a:gd name="adj" fmla="val 1047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50" y="3707160"/>
            <a:ext cx="0" cy="917656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57200" y="3821460"/>
            <a:ext cx="843305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Trade-off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027140"/>
            <a:ext cx="807110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choice: (1) </a:t>
            </a: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 in </a:t>
            </a:r>
            <a:r>
              <a:rPr lang="en-US" sz="1000" b="1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Caála</a:t>
            </a: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Sites 1 &amp; 2 reach 45% quickly with 30-min coverage of 24-35%, OR (2) </a:t>
            </a: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 across 3 municipalities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Adding 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Tchindjenje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000" dirty="0" err="1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Tchikala-tcholoanga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sites improves geographic spread but with lower individual catchment percentages. Catchment tool can model combined coverage scenarios.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Table S3 from summary.md. Thresholds (30/60/120 min) are configurable – can test 15/45/90 min or other combinations.</a:t>
            </a:r>
            <a:endParaRPr lang="en-US" sz="75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0CAC8EAD-80A9-9B38-5A0D-9C234357F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343259"/>
              </p:ext>
            </p:extLst>
          </p:nvPr>
        </p:nvGraphicFramePr>
        <p:xfrm>
          <a:off x="455676" y="1687860"/>
          <a:ext cx="4543044" cy="181122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687323">
                  <a:extLst>
                    <a:ext uri="{9D8B030D-6E8A-4147-A177-3AD203B41FA5}">
                      <a16:colId xmlns:a16="http://schemas.microsoft.com/office/drawing/2014/main" val="2624542820"/>
                    </a:ext>
                  </a:extLst>
                </a:gridCol>
                <a:gridCol w="1642873">
                  <a:extLst>
                    <a:ext uri="{9D8B030D-6E8A-4147-A177-3AD203B41FA5}">
                      <a16:colId xmlns:a16="http://schemas.microsoft.com/office/drawing/2014/main" val="1990986064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3857103722"/>
                    </a:ext>
                  </a:extLst>
                </a:gridCol>
                <a:gridCol w="743712">
                  <a:extLst>
                    <a:ext uri="{9D8B030D-6E8A-4147-A177-3AD203B41FA5}">
                      <a16:colId xmlns:a16="http://schemas.microsoft.com/office/drawing/2014/main" val="4005376728"/>
                    </a:ext>
                  </a:extLst>
                </a:gridCol>
                <a:gridCol w="755904">
                  <a:extLst>
                    <a:ext uri="{9D8B030D-6E8A-4147-A177-3AD203B41FA5}">
                      <a16:colId xmlns:a16="http://schemas.microsoft.com/office/drawing/2014/main" val="4218143714"/>
                    </a:ext>
                  </a:extLst>
                </a:gridCol>
              </a:tblGrid>
              <a:tr h="3018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 ID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Municipality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30-min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60-min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120-min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91365"/>
                  </a:ext>
                </a:extLst>
              </a:tr>
              <a:tr h="3018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 1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Caála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24.3%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45.6%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67.9%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2579835"/>
                  </a:ext>
                </a:extLst>
              </a:tr>
              <a:tr h="3018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 2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Caála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34.7%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45.2%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68.8%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124986"/>
                  </a:ext>
                </a:extLst>
              </a:tr>
              <a:tr h="3018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 20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Tchindjenje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14.7%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44.6%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68.2%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187318"/>
                  </a:ext>
                </a:extLst>
              </a:tr>
              <a:tr h="3018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 5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Tchikala-tcholoanga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32.2%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43.5%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67.4%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816229"/>
                  </a:ext>
                </a:extLst>
              </a:tr>
              <a:tr h="30187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 6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0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Tchikala-tcholoanga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19.9%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42.7%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64.4%</a:t>
                      </a:r>
                      <a:endParaRPr lang="en-ID" sz="1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226729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3D2F35-0CD7-56EC-F92F-49FDDC93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292FDC1-BEF7-874C-B359-14F118FC7B89}"/>
              </a:ext>
            </a:extLst>
          </p:cNvPr>
          <p:cNvSpPr/>
          <p:nvPr/>
        </p:nvSpPr>
        <p:spPr>
          <a:xfrm>
            <a:off x="304800" y="236280"/>
            <a:ext cx="724776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How many people benefit within 30/60/120 minutes?</a:t>
            </a:r>
            <a:endParaRPr lang="en-US" sz="2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8ECD02-0D9C-AD64-C15C-83AFE3A6D7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0" y="768924"/>
            <a:ext cx="5959900" cy="421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404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857399"/>
            <a:ext cx="58001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Are we stacking with other investments?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219349"/>
            <a:ext cx="4324350" cy="2453580"/>
          </a:xfrm>
          <a:prstGeom prst="roundRect">
            <a:avLst>
              <a:gd name="adj" fmla="val 310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333649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Density Around Clusters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9100" y="1569839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of projects within 30 km of priority clusters (where available):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9100" y="1806029"/>
            <a:ext cx="4095750" cy="17526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Huambo clusters: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Strong WB project density (Cluster 1: 23 projects, Cluster 2: 14 projects) - no Government or Other projects recorded</a:t>
            </a:r>
          </a:p>
          <a:p>
            <a:pPr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Benguela clusters: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>
                <a:latin typeface="Arial" panose="020B0604020202020204" pitchFamily="34" charset="0"/>
                <a:cs typeface="Arial" panose="020B0604020202020204" pitchFamily="34" charset="0"/>
              </a:rPr>
              <a:t>26 project location data available for synergy analysis, but the location are far away from 4 identified priority clusters</a:t>
            </a:r>
          </a:p>
        </p:txBody>
      </p:sp>
      <p:sp>
        <p:nvSpPr>
          <p:cNvPr id="7" name="Text 5"/>
          <p:cNvSpPr/>
          <p:nvPr/>
        </p:nvSpPr>
        <p:spPr>
          <a:xfrm>
            <a:off x="4743450" y="1219349"/>
            <a:ext cx="4095750" cy="499021"/>
          </a:xfrm>
          <a:prstGeom prst="roundRect">
            <a:avLst>
              <a:gd name="adj" fmla="val 1527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757738" y="1219349"/>
            <a:ext cx="0" cy="499021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867275" y="1314599"/>
            <a:ext cx="395420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High-Opportunity Nodes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67275" y="1489770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Clusters with many nearby projects → good bundling potential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43450" y="1813620"/>
            <a:ext cx="4095750" cy="499021"/>
          </a:xfrm>
          <a:prstGeom prst="roundRect">
            <a:avLst>
              <a:gd name="adj" fmla="val 15270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57738" y="1813620"/>
            <a:ext cx="0" cy="499021"/>
          </a:xfrm>
          <a:prstGeom prst="line">
            <a:avLst/>
          </a:prstGeom>
          <a:noFill/>
          <a:ln w="2857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867275" y="1908870"/>
            <a:ext cx="395420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Clusters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67275" y="2084040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need but few investments → risk of fragmentation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43450" y="2407890"/>
            <a:ext cx="4095750" cy="499021"/>
          </a:xfrm>
          <a:prstGeom prst="roundRect">
            <a:avLst>
              <a:gd name="adj" fmla="val 1527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757738" y="2407890"/>
            <a:ext cx="0" cy="499021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7" name="Text 15"/>
          <p:cNvSpPr/>
          <p:nvPr/>
        </p:nvSpPr>
        <p:spPr>
          <a:xfrm>
            <a:off x="4867275" y="2503140"/>
            <a:ext cx="395420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Opportunities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7275" y="2678311"/>
            <a:ext cx="39542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Areas that could connect separate project islands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04800" y="3787229"/>
            <a:ext cx="8534400" cy="727472"/>
          </a:xfrm>
          <a:prstGeom prst="roundRect">
            <a:avLst>
              <a:gd name="adj" fmla="val 1047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3850" y="3787229"/>
            <a:ext cx="0" cy="727472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1" name="Text 19"/>
          <p:cNvSpPr/>
          <p:nvPr/>
        </p:nvSpPr>
        <p:spPr>
          <a:xfrm>
            <a:off x="457200" y="3901529"/>
            <a:ext cx="843305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Opportunity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107210"/>
            <a:ext cx="824788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WB and Government projects cluster within 30 km of priority areas, there's strong potential for: (1) Joint planning sessions, (2) Shared infrastructure (roads, electricity), (3) Coordinated service delivery. The tool can identify these overlap zones for each province</a:t>
            </a: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Table S4 from summary.md. Radii (5/10/30 km) are configurable – currently using 30 km as 10 km is too sparse in rural areas.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9FD616-63D0-6E75-E5BF-9AE19812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C8DC63E-F340-9281-AFD0-70A954C41492}"/>
              </a:ext>
            </a:extLst>
          </p:cNvPr>
          <p:cNvSpPr/>
          <p:nvPr/>
        </p:nvSpPr>
        <p:spPr>
          <a:xfrm>
            <a:off x="304800" y="211223"/>
            <a:ext cx="58001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Are we stacking with other investments?</a:t>
            </a:r>
            <a:endParaRPr lang="en-US" sz="2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20C6957-8668-32BC-AC3E-F9CCEAAD5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1" y="1279071"/>
            <a:ext cx="3845204" cy="33865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F1D2600-A491-B435-277A-B8502F22DB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1650" y="635668"/>
            <a:ext cx="3272430" cy="443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942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861120"/>
            <a:ext cx="83067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How does movement along the corridor reinforce priorities?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304800" y="1223070"/>
            <a:ext cx="4324350" cy="2445990"/>
          </a:xfrm>
          <a:prstGeom prst="roundRect">
            <a:avLst>
              <a:gd name="adj" fmla="val 3115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9100" y="1337370"/>
            <a:ext cx="417766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Origin-Destination (OD) Pairs (Huambo)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9100" y="1573560"/>
            <a:ext cx="4095750" cy="1981200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Caála ↔ Huambo: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97,939 flow, 56 km (✓ Both in priority mask)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Bailundo ↔ Huambo: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55,540 flow, 97 km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Huambo ↔ Tchikala: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49,511 flow, 36 km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Huambo ↔ Katchiungo: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41,294 flow, 57 km</a:t>
            </a:r>
            <a:endParaRPr lang="en-US" sz="1350" dirty="0"/>
          </a:p>
          <a:p>
            <a:pPr marL="95250" indent="-95250" algn="l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Ekunha ↔ Huambo:</a:t>
            </a: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33,431 flow, 46 km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3450" y="1223070"/>
            <a:ext cx="4095750" cy="874068"/>
          </a:xfrm>
          <a:prstGeom prst="roundRect">
            <a:avLst>
              <a:gd name="adj" fmla="val 8718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0" y="1223070"/>
            <a:ext cx="0" cy="874068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8" name="Text 6"/>
          <p:cNvSpPr/>
          <p:nvPr/>
        </p:nvSpPr>
        <p:spPr>
          <a:xfrm>
            <a:off x="4895850" y="1337370"/>
            <a:ext cx="39056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5850" y="1543050"/>
            <a:ext cx="3905631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Caála-Huambo shows highest modelled flow (97,939) – </a:t>
            </a: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ends are in priority mask</a:t>
            </a: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This corridor segment deserves investment priority for both access and economic flow.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43450" y="2192387"/>
            <a:ext cx="4095750" cy="874068"/>
          </a:xfrm>
          <a:prstGeom prst="roundRect">
            <a:avLst>
              <a:gd name="adj" fmla="val 8718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762500" y="2192387"/>
            <a:ext cx="0" cy="87406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2" name="Text 10"/>
          <p:cNvSpPr/>
          <p:nvPr/>
        </p:nvSpPr>
        <p:spPr>
          <a:xfrm>
            <a:off x="4895850" y="2306687"/>
            <a:ext cx="390563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Gravity Model Assumptions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5850" y="2512368"/>
            <a:ext cx="3905631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Flows based on population × distance decay. Currently using: OD_LAMBDA=0.015, RWI tilt enabled (RWI_WEIGHT=0.25). Can adjust to test different flow assumptions.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4800" y="3783360"/>
            <a:ext cx="8534400" cy="727472"/>
          </a:xfrm>
          <a:prstGeom prst="roundRect">
            <a:avLst>
              <a:gd name="adj" fmla="val 10475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3850" y="3783360"/>
            <a:ext cx="0" cy="727472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6" name="Text 14"/>
          <p:cNvSpPr/>
          <p:nvPr/>
        </p:nvSpPr>
        <p:spPr>
          <a:xfrm>
            <a:off x="457200" y="3897660"/>
            <a:ext cx="8433054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Insight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03340"/>
            <a:ext cx="843305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High-flow OD pairs that connect priority areas (like Caála-Huambo) should be prioritized for road/rail upgrades. These investments serve dual purposes: (1) improve access to priority clusters, AND (2) facilitate economic interaction between productive centers.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Table S5 from summary.md. "Priority?" column indicates if both municipalities are in top priority mask – now trackable via priority_in_mask flag.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CEFDD-2234-0148-F9D4-1D945D1D3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D28E9D-F041-7A66-467F-192646FB70A2}"/>
              </a:ext>
            </a:extLst>
          </p:cNvPr>
          <p:cNvSpPr/>
          <p:nvPr/>
        </p:nvSpPr>
        <p:spPr>
          <a:xfrm>
            <a:off x="304800" y="361248"/>
            <a:ext cx="830675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spcAft>
                <a:spcPts val="750"/>
              </a:spcAft>
              <a:buNone/>
            </a:pPr>
            <a:r>
              <a:rPr lang="en-US" sz="2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Q5: How does movement along the corridor reinforce priorities?</a:t>
            </a:r>
            <a:endParaRPr lang="en-US" sz="21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D941328-1A25-F7B9-F09C-AA4982635C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20" y="757428"/>
            <a:ext cx="4554314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S5-Huambo">
            <a:extLst>
              <a:ext uri="{FF2B5EF4-FFF2-40B4-BE49-F238E27FC236}">
                <a16:creationId xmlns:a16="http://schemas.microsoft.com/office/drawing/2014/main" id="{5E874DC3-ECC2-124C-1469-6ECB525055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4358" y="748866"/>
            <a:ext cx="3167195" cy="4286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840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717352"/>
            <a:ext cx="580015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Results Change Across Scenarios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04800" y="1174552"/>
            <a:ext cx="870508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comparison: How would Huambo results differ under 3 scenarios?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304800" y="1481138"/>
            <a:ext cx="2768650" cy="2331690"/>
          </a:xfrm>
          <a:prstGeom prst="roundRect">
            <a:avLst>
              <a:gd name="adj" fmla="val 3268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23850" y="1481138"/>
            <a:ext cx="0" cy="2331690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6" name="Text 4"/>
          <p:cNvSpPr/>
          <p:nvPr/>
        </p:nvSpPr>
        <p:spPr>
          <a:xfrm>
            <a:off x="457200" y="1595438"/>
            <a:ext cx="25519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Equity-Heavy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31628"/>
            <a:ext cx="2501950" cy="16002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clusters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Ekunha (highest poverty)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in clusters: 1.2-1.4%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poverty: 72-75%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Urban: No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187750" y="1481138"/>
            <a:ext cx="2768650" cy="2331690"/>
          </a:xfrm>
          <a:prstGeom prst="roundRect">
            <a:avLst>
              <a:gd name="adj" fmla="val 3268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06800" y="1481138"/>
            <a:ext cx="0" cy="233169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0" name="Text 8"/>
          <p:cNvSpPr/>
          <p:nvPr/>
        </p:nvSpPr>
        <p:spPr>
          <a:xfrm>
            <a:off x="3340150" y="1595438"/>
            <a:ext cx="25519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(Current)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40150" y="1831628"/>
            <a:ext cx="2501950" cy="16002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clusters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Ekunha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in clusters: 1.1%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poverty: 68-70%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Urban: No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070699" y="1481138"/>
            <a:ext cx="2768650" cy="2331690"/>
          </a:xfrm>
          <a:prstGeom prst="roundRect">
            <a:avLst>
              <a:gd name="adj" fmla="val 3268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89749" y="1481138"/>
            <a:ext cx="0" cy="2331690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4" name="Text 12"/>
          <p:cNvSpPr/>
          <p:nvPr/>
        </p:nvSpPr>
        <p:spPr>
          <a:xfrm>
            <a:off x="6223099" y="1595438"/>
            <a:ext cx="25519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Growth-Heavy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23099" y="1831628"/>
            <a:ext cx="2501950" cy="18669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1-2 clusters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Top: Huambo city (best access)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 in clusters: 0.8-1.0%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poverty: 60-65%</a:t>
            </a:r>
            <a:endParaRPr lang="en-US" sz="1350" dirty="0"/>
          </a:p>
          <a:p>
            <a:pPr marL="85725" indent="-85725" algn="l">
              <a:lnSpc>
                <a:spcPts val="2100"/>
              </a:lnSpc>
              <a:spcAft>
                <a:spcPts val="225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Urban: Possible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04800" y="3927128"/>
            <a:ext cx="4210050" cy="727472"/>
          </a:xfrm>
          <a:prstGeom prst="roundRect">
            <a:avLst>
              <a:gd name="adj" fmla="val 10475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23850" y="3927128"/>
            <a:ext cx="0" cy="727472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8" name="Text 16"/>
          <p:cNvSpPr/>
          <p:nvPr/>
        </p:nvSpPr>
        <p:spPr>
          <a:xfrm>
            <a:off x="457200" y="4041428"/>
            <a:ext cx="402221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247108"/>
            <a:ext cx="402221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scenario can be run overnight by adjusting config.py parameters. Technical team needs 4-6 hours to reprocess all provinces.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4629150" y="3927128"/>
            <a:ext cx="4210050" cy="727472"/>
          </a:xfrm>
          <a:prstGeom prst="roundRect">
            <a:avLst>
              <a:gd name="adj" fmla="val 10475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8200" y="3927128"/>
            <a:ext cx="0" cy="72747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22" name="Text 20"/>
          <p:cNvSpPr/>
          <p:nvPr/>
        </p:nvSpPr>
        <p:spPr>
          <a:xfrm>
            <a:off x="4781550" y="4041428"/>
            <a:ext cx="4022217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Point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1550" y="4247108"/>
            <a:ext cx="4022217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buNone/>
            </a:pPr>
            <a:r>
              <a:rPr lang="en-US" sz="825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scenario best aligns with Angola's corridor strategy? We can run 2-3 scenarios in parallel to compare trade-offs before final investment decisions.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04800" y="47434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projections based on parameter sensitivity. Actual scenario runs would provide precise numbers for all 5 provinces.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438150"/>
            <a:ext cx="8534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50" b="1">
                <a:solidFill>
                  <a:srgbClr val="1E3A8A"/>
                </a:solidFill>
                <a:latin typeface="Arial"/>
              </a:rPr>
              <a:t>Extended Analytics: Going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838200"/>
            <a:ext cx="853440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50" b="0" dirty="0">
                <a:solidFill>
                  <a:srgbClr val="64748B"/>
                </a:solidFill>
                <a:latin typeface="Arial"/>
              </a:rPr>
              <a:t>Four </a:t>
            </a:r>
            <a:r>
              <a:rPr sz="1050" b="0" dirty="0">
                <a:solidFill>
                  <a:srgbClr val="64748B"/>
                </a:solidFill>
                <a:latin typeface="Arial"/>
              </a:rPr>
              <a:t>additional analytical layers</a:t>
            </a:r>
            <a:r>
              <a:rPr lang="en-US" sz="1050" b="0" dirty="0">
                <a:solidFill>
                  <a:srgbClr val="64748B"/>
                </a:solidFill>
                <a:latin typeface="Arial"/>
              </a:rPr>
              <a:t>, </a:t>
            </a:r>
            <a:r>
              <a:rPr sz="1050" b="0" dirty="0">
                <a:solidFill>
                  <a:srgbClr val="64748B"/>
                </a:solidFill>
                <a:latin typeface="Arial"/>
              </a:rPr>
              <a:t>each designed to sharpen investment decisions.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200150"/>
            <a:ext cx="4000500" cy="16002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33500"/>
            <a:ext cx="36957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Arial"/>
              </a:rPr>
              <a:t>1  EQUITY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62100"/>
            <a:ext cx="3695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Arial"/>
              </a:rPr>
              <a:t>Benefit Incidence &amp; Concentration Index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750"/>
            <a:ext cx="36957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dirty="0">
                <a:solidFill>
                  <a:srgbClr val="1E293B"/>
                </a:solidFill>
                <a:latin typeface="Arial"/>
              </a:rPr>
              <a:t>• Ranks municipalities poorest → richest</a:t>
            </a:r>
          </a:p>
          <a:p>
            <a:pPr>
              <a:spcBef>
                <a:spcPts val="300"/>
              </a:spcBef>
            </a:pPr>
            <a:r>
              <a:rPr sz="950" dirty="0">
                <a:solidFill>
                  <a:srgbClr val="1E293B"/>
                </a:solidFill>
                <a:latin typeface="Arial"/>
              </a:rPr>
              <a:t>• Plots cumulative benefit share vs. population share</a:t>
            </a:r>
          </a:p>
          <a:p>
            <a:pPr>
              <a:spcBef>
                <a:spcPts val="300"/>
              </a:spcBef>
            </a:pPr>
            <a:r>
              <a:rPr sz="950" dirty="0">
                <a:solidFill>
                  <a:srgbClr val="1E293B"/>
                </a:solidFill>
                <a:latin typeface="Arial"/>
              </a:rPr>
              <a:t>• Single metric (CI): positive = pro-poor, negative = pro-rich</a:t>
            </a:r>
          </a:p>
          <a:p>
            <a:pPr>
              <a:spcBef>
                <a:spcPts val="300"/>
              </a:spcBef>
            </a:pPr>
            <a:r>
              <a:rPr sz="950" dirty="0">
                <a:solidFill>
                  <a:srgbClr val="1E293B"/>
                </a:solidFill>
                <a:latin typeface="Arial"/>
              </a:rPr>
              <a:t>• Helps verify the priority surface actually serves the neediest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95800" y="1200150"/>
            <a:ext cx="4000500" cy="16002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8200" y="1333500"/>
            <a:ext cx="36957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rial"/>
              </a:rPr>
              <a:t>2  NET NEW BENEFICIARIES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1562100"/>
            <a:ext cx="3695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Arial"/>
              </a:rPr>
              <a:t>Marginal Catchment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1809750"/>
            <a:ext cx="36957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Arial"/>
              </a:rPr>
              <a:t>• For each project site: how many people are newly reached?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  <a:latin typeface="Arial"/>
              </a:rPr>
              <a:t>• Removes overlap between sites (no double-counting)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  <a:latin typeface="Arial"/>
              </a:rPr>
              <a:t>• Identifies sites with highest unique contribution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  <a:latin typeface="Arial"/>
              </a:rPr>
              <a:t>• Prevents over-investment in already-served areas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4800" y="2952750"/>
            <a:ext cx="4000500" cy="16002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086100"/>
            <a:ext cx="36957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Arial"/>
              </a:rPr>
              <a:t>3  ROAD BOTTLENECKS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14700"/>
            <a:ext cx="3695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Arial"/>
              </a:rPr>
              <a:t>OD-Flow × Flood Risk Overlay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62350"/>
            <a:ext cx="36957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Arial"/>
              </a:rPr>
              <a:t>• Models corridor movement (gravity OD between municipalities)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  <a:latin typeface="Arial"/>
              </a:rPr>
              <a:t>• Traces flow lines through the road grid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  <a:latin typeface="Arial"/>
              </a:rPr>
              <a:t>• Intersects with 100-year flood risk mask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  <a:latin typeface="Arial"/>
              </a:rPr>
              <a:t>• Ranks road cells by: how much disruption if this segment fails?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95800" y="2952750"/>
            <a:ext cx="4000500" cy="16002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8200" y="3086100"/>
            <a:ext cx="36957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Arial"/>
              </a:rPr>
              <a:t>4  WHAT-IF SIMULATOR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8200" y="3314700"/>
            <a:ext cx="3695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Arial"/>
              </a:rPr>
              <a:t>Intervention Impact Modelling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8200" y="3562350"/>
            <a:ext cx="3695700" cy="99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1E293B"/>
                </a:solidFill>
                <a:latin typeface="Arial"/>
              </a:rPr>
              <a:t>• Upgrades flood-risk road cells to 45 km/h (secondary standard)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  <a:latin typeface="Arial"/>
              </a:rPr>
              <a:t>• Recomputes travel time from all project sites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  <a:latin typeface="Arial"/>
              </a:rPr>
              <a:t>• Counts population gaining 5, 10, 15, 30, 60+ minutes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1E293B"/>
                </a:solidFill>
                <a:latin typeface="Arial"/>
              </a:rPr>
              <a:t>• Key metric: people newly within 60 min of a project 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4800" y="4705350"/>
            <a:ext cx="8705088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rial"/>
              </a:rPr>
              <a:t>All four layers are fully automated (Steps 09, 12, 14, 16) and produce downloadable tables and maps.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4E2D2-CCC5-25CD-F3EF-2F0A8F83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D6090E-D621-324C-3099-2AA63D8E73AA}"/>
              </a:ext>
            </a:extLst>
          </p:cNvPr>
          <p:cNvSpPr txBox="1"/>
          <p:nvPr/>
        </p:nvSpPr>
        <p:spPr>
          <a:xfrm>
            <a:off x="304800" y="438150"/>
            <a:ext cx="8534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50" b="1">
                <a:solidFill>
                  <a:srgbClr val="1E3A8A"/>
                </a:solidFill>
                <a:latin typeface="Arial"/>
              </a:rPr>
              <a:t>Extended Analytics: Going Deeper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CB5E0B-B6C9-38DD-FCCC-A5B2DE235C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92" y="1182914"/>
            <a:ext cx="4993829" cy="379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48911285-2D01-5021-D439-D59661306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7573" y="1182914"/>
            <a:ext cx="3639114" cy="37936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065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F626D-C919-F274-3B59-252E7518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B5D2B0-4122-B754-EC85-802481D84586}"/>
              </a:ext>
            </a:extLst>
          </p:cNvPr>
          <p:cNvSpPr txBox="1"/>
          <p:nvPr/>
        </p:nvSpPr>
        <p:spPr>
          <a:xfrm>
            <a:off x="304800" y="438150"/>
            <a:ext cx="8534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50" b="1">
                <a:solidFill>
                  <a:srgbClr val="1E3A8A"/>
                </a:solidFill>
                <a:latin typeface="Arial"/>
              </a:rPr>
              <a:t>Extended Analytics: Going Deeper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B3898D8D-0498-5D5E-71F5-665D790A4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919554"/>
            <a:ext cx="6810375" cy="4150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2085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438150"/>
            <a:ext cx="8534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50" b="1">
                <a:solidFill>
                  <a:srgbClr val="1E3A8A"/>
                </a:solidFill>
                <a:latin typeface="Arial"/>
              </a:rPr>
              <a:t>What-If: Upgrading Flood-Vulnerable Roads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838200"/>
            <a:ext cx="853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Simulation: upgrade all flood-risk road cells to secondary-road standard (45 km/h). How does travel time change across the province?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4800" y="1200150"/>
            <a:ext cx="3486912" cy="29718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33500"/>
            <a:ext cx="36957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E3A8A"/>
                </a:solidFill>
                <a:latin typeface="Arial"/>
              </a:rPr>
              <a:t>How the Simulation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51635"/>
            <a:ext cx="3133344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1E3A8A"/>
                </a:solidFill>
                <a:latin typeface="Arial"/>
              </a:rPr>
              <a:t>1. Baseline  </a:t>
            </a:r>
            <a:r>
              <a:rPr sz="950" dirty="0">
                <a:solidFill>
                  <a:srgbClr val="1E293B"/>
                </a:solidFill>
                <a:latin typeface="Arial"/>
              </a:rPr>
              <a:t>Compute travel times from all project sites using today's road network</a:t>
            </a:r>
          </a:p>
          <a:p>
            <a:pPr>
              <a:spcBef>
                <a:spcPts val="600"/>
              </a:spcBef>
            </a:pPr>
            <a:r>
              <a:rPr sz="1000" b="1" dirty="0">
                <a:solidFill>
                  <a:srgbClr val="1E3A8A"/>
                </a:solidFill>
                <a:latin typeface="Arial"/>
              </a:rPr>
              <a:t>2. Identify  </a:t>
            </a:r>
            <a:r>
              <a:rPr sz="950" dirty="0">
                <a:solidFill>
                  <a:srgbClr val="1E293B"/>
                </a:solidFill>
                <a:latin typeface="Arial"/>
              </a:rPr>
              <a:t>Find road cells sitting in the 100-year flood zone (Step 04)</a:t>
            </a:r>
          </a:p>
          <a:p>
            <a:pPr>
              <a:spcBef>
                <a:spcPts val="600"/>
              </a:spcBef>
            </a:pPr>
            <a:r>
              <a:rPr sz="1000" b="1" dirty="0">
                <a:solidFill>
                  <a:srgbClr val="1E3A8A"/>
                </a:solidFill>
                <a:latin typeface="Arial"/>
              </a:rPr>
              <a:t>3. Upgrade  </a:t>
            </a:r>
            <a:r>
              <a:rPr sz="950" dirty="0">
                <a:solidFill>
                  <a:srgbClr val="1E293B"/>
                </a:solidFill>
                <a:latin typeface="Arial"/>
              </a:rPr>
              <a:t>Set those cells to 45 km/h (secondary road standard)</a:t>
            </a:r>
          </a:p>
          <a:p>
            <a:pPr>
              <a:spcBef>
                <a:spcPts val="600"/>
              </a:spcBef>
            </a:pPr>
            <a:r>
              <a:rPr sz="1000" b="1" dirty="0">
                <a:solidFill>
                  <a:srgbClr val="1E3A8A"/>
                </a:solidFill>
                <a:latin typeface="Arial"/>
              </a:rPr>
              <a:t>4. Recompute  </a:t>
            </a:r>
            <a:r>
              <a:rPr sz="950" dirty="0">
                <a:solidFill>
                  <a:srgbClr val="1E293B"/>
                </a:solidFill>
                <a:latin typeface="Arial"/>
              </a:rPr>
              <a:t>Calculate new travel times on the improved network</a:t>
            </a:r>
          </a:p>
          <a:p>
            <a:pPr>
              <a:spcBef>
                <a:spcPts val="600"/>
              </a:spcBef>
            </a:pPr>
            <a:r>
              <a:rPr sz="1000" b="1" dirty="0">
                <a:solidFill>
                  <a:srgbClr val="1E3A8A"/>
                </a:solidFill>
                <a:latin typeface="Arial"/>
              </a:rPr>
              <a:t>5. Compare  </a:t>
            </a:r>
            <a:r>
              <a:rPr sz="950" dirty="0">
                <a:solidFill>
                  <a:srgbClr val="1E293B"/>
                </a:solidFill>
                <a:latin typeface="Arial"/>
              </a:rPr>
              <a:t>Subtract: how many minutes saved per grid cell?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44112" y="1200150"/>
            <a:ext cx="4552188" cy="297180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52900" y="1333500"/>
            <a:ext cx="4191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D9488"/>
                </a:solidFill>
                <a:latin typeface="Arial"/>
              </a:rPr>
              <a:t>What Decision Makers Should Look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2900" y="1651635"/>
            <a:ext cx="41910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 dirty="0">
                <a:solidFill>
                  <a:srgbClr val="0D9488"/>
                </a:solidFill>
                <a:latin typeface="Arial"/>
              </a:rPr>
              <a:t>Newly within 60 min
</a:t>
            </a:r>
            <a:r>
              <a:rPr sz="900" dirty="0">
                <a:solidFill>
                  <a:srgbClr val="1E293B"/>
                </a:solidFill>
                <a:latin typeface="Arial"/>
              </a:rPr>
              <a:t>People who previously had NO reasonable access to project sites and now do. The single most actionable metric for investment justification.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D9488"/>
                </a:solidFill>
                <a:latin typeface="Arial"/>
              </a:rPr>
              <a:t>Large gains at low thresholds
</a:t>
            </a:r>
            <a:r>
              <a:rPr sz="900" dirty="0">
                <a:solidFill>
                  <a:srgbClr val="1E293B"/>
                </a:solidFill>
                <a:latin typeface="Arial"/>
              </a:rPr>
              <a:t>Many people gaining 5-10 minutes = widespread but modest improvement. Typical of upgrading a few key segments on a busy route.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D9488"/>
                </a:solidFill>
                <a:latin typeface="Arial"/>
              </a:rPr>
              <a:t>Small gains at high thresholds
</a:t>
            </a:r>
            <a:r>
              <a:rPr sz="900" dirty="0">
                <a:solidFill>
                  <a:srgbClr val="1E293B"/>
                </a:solidFill>
                <a:latin typeface="Arial"/>
              </a:rPr>
              <a:t>Fewer people gaining 30-60+ minutes = transformative for remote communities. Often more important for equity objectives.</a:t>
            </a:r>
          </a:p>
          <a:p>
            <a:pPr>
              <a:spcBef>
                <a:spcPts val="800"/>
              </a:spcBef>
            </a:pPr>
            <a:r>
              <a:rPr sz="1000" b="1" dirty="0">
                <a:solidFill>
                  <a:srgbClr val="0D9488"/>
                </a:solidFill>
                <a:latin typeface="Arial"/>
              </a:rPr>
              <a:t>Corridor dashboard
</a:t>
            </a:r>
            <a:r>
              <a:rPr sz="900" dirty="0">
                <a:solidFill>
                  <a:srgbClr val="1E293B"/>
                </a:solidFill>
                <a:latin typeface="Arial"/>
              </a:rPr>
              <a:t>Step 15 aggregates these metrics across all provinces into a single comparison table for cross-province </a:t>
            </a:r>
            <a:r>
              <a:rPr sz="900" dirty="0" err="1">
                <a:solidFill>
                  <a:srgbClr val="1E293B"/>
                </a:solidFill>
                <a:latin typeface="Arial"/>
              </a:rPr>
              <a:t>prioritisation</a:t>
            </a:r>
            <a:r>
              <a:rPr sz="900" dirty="0">
                <a:solidFill>
                  <a:srgbClr val="1E293B"/>
                </a:solidFill>
                <a:latin typeface="Arial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4800" y="4400550"/>
            <a:ext cx="8705088" cy="30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64748B"/>
                </a:solidFill>
                <a:latin typeface="Arial"/>
              </a:rPr>
              <a:t>Note: This is a cost-distance simulation, not a traffic assignment model. It shows potential accessibility gains, not predicted traffic volumes. Results should be validated with field engineering assessments before committing budget.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800" y="4705350"/>
            <a:ext cx="8705088" cy="133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Arial"/>
              </a:rPr>
              <a:t>Outputs: sim_impact_summary.csv (population by threshold), sim_travel_delta.tif (minutes-saved raster). Full results in the Jupyter Book, Chapter 8c.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ACF233-06D2-1D3A-AACA-A09AF2C6F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476606-4F02-78E2-0932-ADC15A5E64B4}"/>
              </a:ext>
            </a:extLst>
          </p:cNvPr>
          <p:cNvSpPr txBox="1"/>
          <p:nvPr/>
        </p:nvSpPr>
        <p:spPr>
          <a:xfrm>
            <a:off x="304800" y="438150"/>
            <a:ext cx="8534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50" b="1">
                <a:solidFill>
                  <a:srgbClr val="1E3A8A"/>
                </a:solidFill>
                <a:latin typeface="Arial"/>
              </a:rPr>
              <a:t>What-If: Upgrading Flood-Vulnerable Roads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BB022-1ABF-DCCF-CBB3-504AD8C3DDBB}"/>
              </a:ext>
            </a:extLst>
          </p:cNvPr>
          <p:cNvSpPr txBox="1"/>
          <p:nvPr/>
        </p:nvSpPr>
        <p:spPr>
          <a:xfrm>
            <a:off x="304800" y="838200"/>
            <a:ext cx="853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Arial"/>
              </a:rPr>
              <a:t>Simulation: upgrade all flood-risk road cells to secondary-road standard (45 km/h). How does travel time change across the province?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26CB7F2-B1AF-369C-53CF-530170321B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11275" y="1276152"/>
            <a:ext cx="7321449" cy="36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9301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4800" y="638175"/>
            <a:ext cx="44885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spcAft>
                <a:spcPts val="1050"/>
              </a:spcAft>
              <a:buNone/>
            </a:pPr>
            <a:r>
              <a:rPr lang="en-US" sz="2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&amp; Next Steps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304799" y="1057275"/>
            <a:ext cx="8498965" cy="1592609"/>
          </a:xfrm>
          <a:prstGeom prst="roundRect">
            <a:avLst>
              <a:gd name="adj" fmla="val 5764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23850" y="1057275"/>
            <a:ext cx="0" cy="1592610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5" name="Text 3"/>
          <p:cNvSpPr/>
          <p:nvPr/>
        </p:nvSpPr>
        <p:spPr>
          <a:xfrm>
            <a:off x="457200" y="1171575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(1-2 weeks) 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199" y="1388714"/>
            <a:ext cx="8138159" cy="1183035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171450" indent="-171450" algn="l">
              <a:lnSpc>
                <a:spcPts val="21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E293B"/>
                </a:solidFill>
                <a:latin typeface="Arial"/>
              </a:rPr>
              <a:t>Validate Balanced scenario alignment with country priorities</a:t>
            </a:r>
            <a:endParaRPr lang="en-US" sz="1200" dirty="0"/>
          </a:p>
          <a:p>
            <a:pPr marL="171450" indent="-171450" algn="l">
              <a:lnSpc>
                <a:spcPts val="21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E293B"/>
                </a:solidFill>
                <a:latin typeface="Arial"/>
              </a:rPr>
              <a:t>Decide on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Moxico</a:t>
            </a:r>
            <a:r>
              <a:rPr sz="1200" dirty="0">
                <a:solidFill>
                  <a:srgbClr val="1E293B"/>
                </a:solidFill>
                <a:latin typeface="Arial"/>
              </a:rPr>
              <a:t> / </a:t>
            </a:r>
            <a:r>
              <a:rPr sz="1200" dirty="0" err="1">
                <a:solidFill>
                  <a:srgbClr val="1E293B"/>
                </a:solidFill>
                <a:latin typeface="Arial"/>
              </a:rPr>
              <a:t>Moxico</a:t>
            </a:r>
            <a:r>
              <a:rPr sz="1200" dirty="0">
                <a:solidFill>
                  <a:srgbClr val="1E293B"/>
                </a:solidFill>
                <a:latin typeface="Arial"/>
              </a:rPr>
              <a:t> Leste: accept zero clusters OR adjust threshold</a:t>
            </a:r>
            <a:endParaRPr lang="en-US" sz="1200" dirty="0">
              <a:solidFill>
                <a:srgbClr val="1E293B"/>
              </a:solidFill>
              <a:latin typeface="Arial"/>
            </a:endParaRPr>
          </a:p>
          <a:p>
            <a:pPr marL="171450" indent="-171450" algn="l">
              <a:lnSpc>
                <a:spcPts val="21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E293B"/>
                </a:solidFill>
                <a:latin typeface="Arial"/>
              </a:rPr>
              <a:t>Review equity results: CI shows whether priorities are pro-poor</a:t>
            </a:r>
            <a:endParaRPr lang="en-US" sz="1200" dirty="0">
              <a:solidFill>
                <a:srgbClr val="1E293B"/>
              </a:solidFill>
              <a:latin typeface="Arial"/>
            </a:endParaRPr>
          </a:p>
          <a:p>
            <a:pPr marL="171450" indent="-171450" algn="l">
              <a:lnSpc>
                <a:spcPts val="21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200" dirty="0">
                <a:solidFill>
                  <a:srgbClr val="1E293B"/>
                </a:solidFill>
                <a:latin typeface="Arial"/>
              </a:rPr>
              <a:t>Review bottleneck ranking: which road segments to protect first?</a:t>
            </a:r>
          </a:p>
        </p:txBody>
      </p:sp>
      <p:sp>
        <p:nvSpPr>
          <p:cNvPr id="7" name="Text 5"/>
          <p:cNvSpPr/>
          <p:nvPr/>
        </p:nvSpPr>
        <p:spPr>
          <a:xfrm>
            <a:off x="304800" y="2709321"/>
            <a:ext cx="4346448" cy="1375319"/>
          </a:xfrm>
          <a:prstGeom prst="roundRect">
            <a:avLst>
              <a:gd name="adj" fmla="val 4577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323850" y="2709321"/>
            <a:ext cx="0" cy="137532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9" name="Text 7"/>
          <p:cNvSpPr/>
          <p:nvPr/>
        </p:nvSpPr>
        <p:spPr>
          <a:xfrm>
            <a:off x="457200" y="2832705"/>
            <a:ext cx="402221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(1-2 months)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49845"/>
            <a:ext cx="4114797" cy="961323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171450" indent="-171450" algn="l">
              <a:lnSpc>
                <a:spcPts val="16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E293B"/>
                </a:solidFill>
                <a:latin typeface="Arial"/>
              </a:rPr>
              <a:t>Run 2-3 comparison scenarios (equity-heavy, growth-heavy)</a:t>
            </a:r>
            <a:endParaRPr lang="en-US" sz="1100" dirty="0"/>
          </a:p>
          <a:p>
            <a:pPr marL="171450" indent="-171450" algn="l">
              <a:lnSpc>
                <a:spcPts val="16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E293B"/>
                </a:solidFill>
                <a:latin typeface="Arial"/>
              </a:rPr>
              <a:t>Use intervention simulator to build investment cases</a:t>
            </a:r>
            <a:endParaRPr lang="en-US" sz="1100" dirty="0">
              <a:solidFill>
                <a:srgbClr val="1E293B"/>
              </a:solidFill>
              <a:latin typeface="Arial"/>
            </a:endParaRPr>
          </a:p>
          <a:p>
            <a:pPr marL="171450" indent="-171450" algn="l">
              <a:lnSpc>
                <a:spcPts val="16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E293B"/>
                </a:solidFill>
                <a:latin typeface="Arial"/>
              </a:rPr>
              <a:t>Co-design with transport, agriculture, energy teams</a:t>
            </a:r>
            <a:endParaRPr lang="en-US" sz="1100" dirty="0">
              <a:solidFill>
                <a:srgbClr val="1E293B"/>
              </a:solidFill>
              <a:latin typeface="Arial"/>
            </a:endParaRPr>
          </a:p>
          <a:p>
            <a:pPr marL="171450" indent="-171450" algn="l">
              <a:lnSpc>
                <a:spcPts val="16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sz="1100" dirty="0">
                <a:solidFill>
                  <a:srgbClr val="1E293B"/>
                </a:solidFill>
                <a:latin typeface="Arial"/>
              </a:rPr>
              <a:t>Enrich project metadata by sector and status</a:t>
            </a:r>
          </a:p>
        </p:txBody>
      </p:sp>
      <p:sp>
        <p:nvSpPr>
          <p:cNvPr id="11" name="Text 9"/>
          <p:cNvSpPr/>
          <p:nvPr/>
        </p:nvSpPr>
        <p:spPr>
          <a:xfrm>
            <a:off x="4750690" y="2709321"/>
            <a:ext cx="4088510" cy="1386018"/>
          </a:xfrm>
          <a:prstGeom prst="roundRect">
            <a:avLst>
              <a:gd name="adj" fmla="val 5450"/>
            </a:avLst>
          </a:prstGeom>
          <a:solidFill>
            <a:srgbClr val="EDE9F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50689" y="2709321"/>
            <a:ext cx="0" cy="1386018"/>
          </a:xfrm>
          <a:prstGeom prst="line">
            <a:avLst/>
          </a:prstGeom>
          <a:noFill/>
          <a:ln w="381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ID"/>
          </a:p>
        </p:txBody>
      </p:sp>
      <p:sp>
        <p:nvSpPr>
          <p:cNvPr id="13" name="Text 11"/>
          <p:cNvSpPr/>
          <p:nvPr/>
        </p:nvSpPr>
        <p:spPr>
          <a:xfrm>
            <a:off x="4901185" y="2811399"/>
            <a:ext cx="390258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Longer-term (3-6 months)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01185" y="3028539"/>
            <a:ext cx="3823715" cy="9525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marL="85725" indent="-85725" algn="l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100" dirty="0">
                <a:solidFill>
                  <a:srgbClr val="1E293B"/>
                </a:solidFill>
                <a:latin typeface="Arial"/>
              </a:rPr>
              <a:t>Integrate observed data (traffic counts, production, trade)</a:t>
            </a:r>
            <a:endParaRPr lang="en-US" sz="1100" dirty="0"/>
          </a:p>
          <a:p>
            <a:pPr marL="85725" indent="-85725" algn="l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100" dirty="0">
                <a:solidFill>
                  <a:srgbClr val="1E293B"/>
                </a:solidFill>
                <a:latin typeface="Arial"/>
              </a:rPr>
              <a:t>Add remaining provinces to corridor dashboard</a:t>
            </a:r>
            <a:endParaRPr lang="en-US" sz="1100" dirty="0">
              <a:solidFill>
                <a:srgbClr val="1E293B"/>
              </a:solidFill>
              <a:latin typeface="Arial"/>
            </a:endParaRPr>
          </a:p>
          <a:p>
            <a:pPr marL="85725" indent="-85725" algn="l">
              <a:lnSpc>
                <a:spcPts val="1600"/>
              </a:lnSpc>
              <a:spcAft>
                <a:spcPts val="300"/>
              </a:spcAft>
              <a:buSzPct val="100000"/>
              <a:buChar char="•"/>
            </a:pPr>
            <a:r>
              <a:rPr sz="1100" dirty="0">
                <a:solidFill>
                  <a:srgbClr val="1E293B"/>
                </a:solidFill>
                <a:latin typeface="Arial"/>
              </a:rPr>
              <a:t>Template replication for other Angola corridors</a:t>
            </a:r>
          </a:p>
        </p:txBody>
      </p:sp>
      <p:sp>
        <p:nvSpPr>
          <p:cNvPr id="15" name="Text 13"/>
          <p:cNvSpPr/>
          <p:nvPr/>
        </p:nvSpPr>
        <p:spPr>
          <a:xfrm>
            <a:off x="304800" y="4162365"/>
            <a:ext cx="8534400" cy="479971"/>
          </a:xfrm>
          <a:prstGeom prst="roundRect">
            <a:avLst>
              <a:gd name="adj" fmla="val 15876"/>
            </a:avLst>
          </a:prstGeom>
          <a:solidFill>
            <a:srgbClr val="1E3A8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5473" y="4295715"/>
            <a:ext cx="8433054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Discussion: Which scenario should we prioritize?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4800" y="4705350"/>
            <a:ext cx="870508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provides transparent, repeatable, and flexible prioritisation for corridor investment coordination.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2317</TotalTime>
  <Words>2427</Words>
  <Application>Microsoft Office PowerPoint</Application>
  <PresentationFormat>On-screen Show (16:9)</PresentationFormat>
  <Paragraphs>242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Benny Istanto</cp:lastModifiedBy>
  <cp:revision>1</cp:revision>
  <dcterms:created xsi:type="dcterms:W3CDTF">2025-12-01T07:11:32Z</dcterms:created>
  <dcterms:modified xsi:type="dcterms:W3CDTF">2026-02-19T14:21:13Z</dcterms:modified>
</cp:coreProperties>
</file>